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🗣 Слова спікера (30 сек): Привіт усім! Ми команда SkyNet. Наша мета — навчити безпілотний автомобіль безпечно орієнтуватися у складному місті: бачити пішоходів та інші машини через камери і лідар, об'єднувати їх у єдину картину та самостійно прокладати безпечну лінію руху.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🗣 Слова спікера (50 сек): У початковому пропоузалі ми хотіли досліджувати World Models — генеративні нейромережі, які передбачають відео наступних секунд. Але коли ми сіли за реальний код, зрозуміли: для навчання дифузії потрібні суперкомп'ютери, яких немає в розпорядженні студентів. Ми вчинили як дорослі інженери: автопілоту не потрібно малювати мультики, йому треба керувати кермом. Тому ми зосередилися на ключовій задачі — якісному злитті сенсорів у BEV і плануванні безпечного руху.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🗣 Слова спікера (60 сек): Як саме модель думає? Уявіть, що авто має 6 очей по колу і лазерний радар на даху. Камери бачать кольори й розмітку, лідар вимірює відстані. Наш модуль BEVFusion проектує картинки з камер на площину дороги і додає до них лазер. Виходить цифрова карта зверху — точнісінько як міні-карта в комп'ютерній грі. Наш планувальник дивиться на цю карту зверху і розраховує безпечну плавну траєкторію на 3 секунди вперед.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🗣 Слова спікера (50 сек): Щоб довести, що наша нейромережа справді розумна, ми порівнюємо її з двома простими алгоритмами: машиною, яка просто стоїть на місці, та машиною зі заклиненим круїз-контролем, що їде тупо прямо. Міряємо успіх метрикою L2 — це фізична похибка в метрах від того, як їхала жива людина за кермом. Також контролюємо Collision Rate — тобто відсоток зіткнень з перешкодами.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🗣 Слова спікера (50 сек): Погляньте на результати. Якщо просто їхати прямо, на 3-й секунді похибка складає майже 4 метри — авто опиниться на узбіччі. Наша модель тримає похибку на рівні 1.3 метра в середньому і всього 50 см на першій секунді. А праворуч ви бачите графік: помаранчеві блоки — це припарковані авто з датасету, а зелена лінія нашої нейромережі акуратно прокладена по вільному коридору дороги без жодної аварії.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🗣 Слова спікера (45 сек): У нашій команді була чітка спеціалізація: Юрій займався метриками і тестами, Владислав створив надійний пайплайн даних, а Олег спроектував нейромережу і візуалізацію. Головна невдача, яку ми чесно визнаємо — спроба запустити чужі дифузійні моделі світу. Ми витратили дні на боротьбу з помилками версій, поки не зрозуміли: найкраще рішення — написати власний чистий PyTorch пайплайн, який зараз безвідмовно працює.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🗣 Слова спікера (45 сек): До фіналу ми запланували три конкретні експерименти: чисельно довести, наскільки лідар покращує камери, протестувати авто при виході одного сенсора з ладу та порівняти нашу карту з розпізнаванням окремих коробок. Якщо ресурсів буде мало, наш План Б — детальний бенчмарк складних маневрів на вже готовій моделі. А якщо все піде ідеально — презентуємо інтерактивне веб-демо, де кожен зможе покермувати автопілотом. Дякуємо, готові до ваших запитань!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AI COURSE · MIDTERM CHECK-IN · 2026</a:t>
            </a:r>
          </a:p>
          <a:p>
            <a:pPr>
              <a:spcBef>
                <a:spcPts val="400"/>
              </a:spcBef>
              <a:defRPr sz="2200" b="1">
                <a:solidFill>
                  <a:srgbClr val="F1F5F9"/>
                </a:solidFill>
              </a:defRPr>
            </a:pPr>
            <a:r>
              <a:t>SkyNet: Автопілот, який бачить місто з висоти пташиного польоту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Мультимодальне об'єднання 6 камер і LiDAR (BEVFusion) для планування безпечного руху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SkyNet Project · UCU 2026  |  Слайд 1 з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51C2E"/>
          </a:solidFill>
          <a:ln w="12700">
            <a:solidFill>
              <a:srgbClr val="23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👥 Команда та Деталі Проєкту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8BDF8"/>
                </a:solidFill>
              </a:rPr>
              <a:t>▪ </a:t>
            </a:r>
            <a:r>
              <a:rPr sz="1100" b="1">
                <a:solidFill>
                  <a:srgbClr val="F1F5F9"/>
                </a:solidFill>
              </a:rPr>
              <a:t>Команда: </a:t>
            </a:r>
            <a:r>
              <a:rPr sz="1100">
                <a:solidFill>
                  <a:srgbClr val="CBD5E1"/>
                </a:solidFill>
              </a:rPr>
              <a:t>Юрій Бобас, Владислав Васильченко, Олег Гомбош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8BDF8"/>
                </a:solidFill>
              </a:rPr>
              <a:t>▪ </a:t>
            </a:r>
            <a:r>
              <a:rPr sz="1100" b="1">
                <a:solidFill>
                  <a:srgbClr val="F1F5F9"/>
                </a:solidFill>
              </a:rPr>
              <a:t>Ментор: </a:t>
            </a:r>
            <a:r>
              <a:rPr sz="1100">
                <a:solidFill>
                  <a:srgbClr val="CBD5E1"/>
                </a:solidFill>
              </a:rPr>
              <a:t>Марта Сумик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8BDF8"/>
                </a:solidFill>
              </a:rPr>
              <a:t>▪ </a:t>
            </a:r>
            <a:r>
              <a:rPr sz="1100" b="1">
                <a:solidFill>
                  <a:srgbClr val="F1F5F9"/>
                </a:solidFill>
              </a:rPr>
              <a:t>Інституція: </a:t>
            </a:r>
            <a:r>
              <a:rPr sz="1100">
                <a:solidFill>
                  <a:srgbClr val="CBD5E1"/>
                </a:solidFill>
              </a:rPr>
              <a:t>Український Католицький Університет (УКУ), ФПН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8BDF8"/>
                </a:solidFill>
              </a:rPr>
              <a:t>▪ </a:t>
            </a:r>
            <a:r>
              <a:rPr sz="1100" b="1">
                <a:solidFill>
                  <a:srgbClr val="F1F5F9"/>
                </a:solidFill>
              </a:rPr>
              <a:t>GitHub репозиторій: </a:t>
            </a:r>
            <a:r>
              <a:rPr sz="1100">
                <a:solidFill>
                  <a:srgbClr val="CBD5E1"/>
                </a:solidFill>
              </a:rPr>
              <a:t>Hombosh-dev/SkyNet (feat/bevfusion-encoder)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8BDF8"/>
                </a:solidFill>
              </a:rPr>
              <a:t>▪ </a:t>
            </a:r>
            <a:r>
              <a:rPr sz="1100" b="1">
                <a:solidFill>
                  <a:srgbClr val="F1F5F9"/>
                </a:solidFill>
              </a:rPr>
              <a:t>Датасет: </a:t>
            </a:r>
            <a:r>
              <a:rPr sz="1100">
                <a:solidFill>
                  <a:srgbClr val="CBD5E1"/>
                </a:solidFill>
              </a:rPr>
              <a:t>nuScenes mini (1,000 сцен, 6 камер кругового огляду + 3D LiDAR)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8BDF8"/>
                </a:solidFill>
              </a:rPr>
              <a:t>▪ </a:t>
            </a:r>
            <a:r>
              <a:rPr sz="1100" b="1">
                <a:solidFill>
                  <a:srgbClr val="F1F5F9"/>
                </a:solidFill>
              </a:rPr>
              <a:t>Головна мета: </a:t>
            </a:r>
            <a:r>
              <a:rPr sz="1100">
                <a:solidFill>
                  <a:srgbClr val="CBD5E1"/>
                </a:solidFill>
              </a:rPr>
              <a:t>Побудувати надійний мультимодальний BEV енкодер та оцінити якість планування руху (Ego Planning) проти обов'язкових бейзлайнів.</a:t>
            </a:r>
          </a:p>
        </p:txBody>
      </p:sp>
      <p:pic>
        <p:nvPicPr>
          <p:cNvPr id="7" name="Picture 6" descr="cam_front_samp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29317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ПРАГМАТИЧНА ІНЖЕНЕРІЯ</a:t>
            </a:r>
          </a:p>
          <a:p>
            <a:pPr>
              <a:spcBef>
                <a:spcPts val="400"/>
              </a:spcBef>
              <a:defRPr sz="2200" b="1">
                <a:solidFill>
                  <a:srgbClr val="F1F5F9"/>
                </a:solidFill>
              </a:defRPr>
            </a:pPr>
            <a:r>
              <a:t>Чому автопілоту важко і як адаптувався наш проєкт?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Чому ми відійшли від важких генеративних моделей світу (World Models) до надійного руху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SkyNet Project · UCU 2026  |  Слайд 2 з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51C2E"/>
          </a:solidFill>
          <a:ln w="12700">
            <a:solidFill>
              <a:srgbClr val="23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🎯 Проблема сенсорів у місті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8BDF8"/>
                </a:solidFill>
              </a:rPr>
              <a:t>▪ </a:t>
            </a:r>
            <a:r>
              <a:rPr sz="1100" b="1">
                <a:solidFill>
                  <a:srgbClr val="F1F5F9"/>
                </a:solidFill>
              </a:rPr>
              <a:t>Камери (очі): </a:t>
            </a:r>
            <a:r>
              <a:rPr sz="1100">
                <a:solidFill>
                  <a:srgbClr val="CBD5E1"/>
                </a:solidFill>
              </a:rPr>
              <a:t>Чудово розрізняють розмітку, колір світлофорів та людей, але погано відчувають відстань.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8BDF8"/>
                </a:solidFill>
              </a:rPr>
              <a:t>▪ </a:t>
            </a:r>
            <a:r>
              <a:rPr sz="1100" b="1">
                <a:solidFill>
                  <a:srgbClr val="F1F5F9"/>
                </a:solidFill>
              </a:rPr>
              <a:t>LiDAR (лазер): </a:t>
            </a:r>
            <a:r>
              <a:rPr sz="1100">
                <a:solidFill>
                  <a:srgbClr val="CBD5E1"/>
                </a:solidFill>
              </a:rPr>
              <a:t>З міліметровою точністю вимірює дистанцію, але повертає лише розріджені сірі крапки.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8BDF8"/>
                </a:solidFill>
              </a:rPr>
              <a:t>▪ </a:t>
            </a:r>
            <a:r>
              <a:rPr sz="1100" b="1">
                <a:solidFill>
                  <a:srgbClr val="F1F5F9"/>
                </a:solidFill>
              </a:rPr>
              <a:t>Висновок: </a:t>
            </a:r>
            <a:r>
              <a:rPr sz="1100">
                <a:solidFill>
                  <a:srgbClr val="CBD5E1"/>
                </a:solidFill>
              </a:rPr>
              <a:t>Жоден сенсор окремо не дає повної картини. Їх необхідно об'єднати в один метричний простір.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51C2E"/>
          </a:solidFill>
          <a:ln w="12700">
            <a:solidFill>
              <a:srgbClr val="23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⚡ Чому ми скоригували пропоузал?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8BDF8"/>
                </a:solidFill>
              </a:rPr>
              <a:t>▪ </a:t>
            </a:r>
            <a:r>
              <a:rPr sz="1100" b="1">
                <a:solidFill>
                  <a:srgbClr val="F1F5F9"/>
                </a:solidFill>
              </a:rPr>
              <a:t>Початкова ідея: </a:t>
            </a:r>
            <a:r>
              <a:rPr sz="1100">
                <a:solidFill>
                  <a:srgbClr val="CBD5E1"/>
                </a:solidFill>
              </a:rPr>
              <a:t>Навчати дифузійні моделі світу (World Models) для передбачення майбутніх відеокадрів.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8BDF8"/>
                </a:solidFill>
              </a:rPr>
              <a:t>▪ </a:t>
            </a:r>
            <a:r>
              <a:rPr sz="1100" b="1">
                <a:solidFill>
                  <a:srgbClr val="F1F5F9"/>
                </a:solidFill>
              </a:rPr>
              <a:t>Реальність: </a:t>
            </a:r>
            <a:r>
              <a:rPr sz="1100">
                <a:solidFill>
                  <a:srgbClr val="CBD5E1"/>
                </a:solidFill>
              </a:rPr>
              <a:t>Такі моделі вимагають серверів рівня 8×A100 GPU (80GB) і тижнів навчання, а відкриті бібліотеки несумісні з новим Python.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8BDF8"/>
                </a:solidFill>
              </a:rPr>
              <a:t>▪ </a:t>
            </a:r>
            <a:r>
              <a:rPr sz="1100" b="1">
                <a:solidFill>
                  <a:srgbClr val="F1F5F9"/>
                </a:solidFill>
              </a:rPr>
              <a:t>Зріле рішення: </a:t>
            </a:r>
            <a:r>
              <a:rPr sz="1100">
                <a:solidFill>
                  <a:srgbClr val="CBD5E1"/>
                </a:solidFill>
              </a:rPr>
              <a:t>Для безпеки авто головне — не малювати гарне відео, а надійно керувати кермом.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8BDF8"/>
                </a:solidFill>
              </a:rPr>
              <a:t>▪ </a:t>
            </a:r>
            <a:r>
              <a:rPr sz="1100" b="1">
                <a:solidFill>
                  <a:srgbClr val="F1F5F9"/>
                </a:solidFill>
              </a:rPr>
              <a:t>Наш підхід: </a:t>
            </a:r>
            <a:r>
              <a:rPr sz="1100">
                <a:solidFill>
                  <a:srgbClr val="CBD5E1"/>
                </a:solidFill>
              </a:rPr>
              <a:t>Ми створили з нуля компактний чистий PyTorch BEVFusion-енкодер та перевірили його за фінальною задачею руху.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АРХІТЕКТУРА РІШЕННЯ</a:t>
            </a:r>
          </a:p>
          <a:p>
            <a:pPr>
              <a:spcBef>
                <a:spcPts val="400"/>
              </a:spcBef>
              <a:defRPr sz="2200" b="1">
                <a:solidFill>
                  <a:srgbClr val="F1F5F9"/>
                </a:solidFill>
              </a:defRPr>
            </a:pPr>
            <a:r>
              <a:t>Наш Pipeline: від камер і лазера до повороту керма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Покроковий рух інформації крізь мультимодальну нейромережу SkyNet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SkyNet Project · UCU 2026  |  Слайд 3 з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51C2E"/>
          </a:solidFill>
          <a:ln w="12700">
            <a:solidFill>
              <a:srgbClr val="23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🧠 4 кроки ухвалення рішення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8BDF8"/>
                </a:solidFill>
              </a:rPr>
              <a:t>▪ </a:t>
            </a:r>
            <a:r>
              <a:rPr sz="1100" b="1">
                <a:solidFill>
                  <a:srgbClr val="F1F5F9"/>
                </a:solidFill>
              </a:rPr>
              <a:t>1. 6 Кругових Камер: </a:t>
            </a:r>
            <a:r>
              <a:rPr sz="1100">
                <a:solidFill>
                  <a:srgbClr val="CBD5E1"/>
                </a:solidFill>
              </a:rPr>
              <a:t>Фотографують простір на 360°. Згорткова мережа (ResNet) знаходить дорогу та інші авто.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8BDF8"/>
                </a:solidFill>
              </a:rPr>
              <a:t>▪ </a:t>
            </a:r>
            <a:r>
              <a:rPr sz="1100" b="1">
                <a:solidFill>
                  <a:srgbClr val="F1F5F9"/>
                </a:solidFill>
              </a:rPr>
              <a:t>2. 3D LiDAR Sweep: </a:t>
            </a:r>
            <a:r>
              <a:rPr sz="1100">
                <a:solidFill>
                  <a:srgbClr val="CBD5E1"/>
                </a:solidFill>
              </a:rPr>
              <a:t>Хмара лазерних точок групується у стовпчики (PointPillars) у карту щільності.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8BDF8"/>
                </a:solidFill>
              </a:rPr>
              <a:t>▪ </a:t>
            </a:r>
            <a:r>
              <a:rPr sz="1100" b="1">
                <a:solidFill>
                  <a:srgbClr val="F1F5F9"/>
                </a:solidFill>
              </a:rPr>
              <a:t>3. BEV Злиття (Bird's-Eye-View): </a:t>
            </a:r>
            <a:r>
              <a:rPr sz="1100">
                <a:solidFill>
                  <a:srgbClr val="CBD5E1"/>
                </a:solidFill>
              </a:rPr>
              <a:t>Камери і лідар зливаються в єдину цифрову карту «вид зверху» розміром 200×200 клітинок (1 клітинка = 0.5м).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8BDF8"/>
                </a:solidFill>
              </a:rPr>
              <a:t>▪ </a:t>
            </a:r>
            <a:r>
              <a:rPr sz="1100" b="1">
                <a:solidFill>
                  <a:srgbClr val="F1F5F9"/>
                </a:solidFill>
              </a:rPr>
              <a:t>4. Ego-Planner (ШІ Водій): </a:t>
            </a:r>
            <a:r>
              <a:rPr sz="1100">
                <a:solidFill>
                  <a:srgbClr val="CBD5E1"/>
                </a:solidFill>
              </a:rPr>
              <a:t>Оцінює вільні коридори та видає плавні координати (x, y) руху на 3 секунди вперед.</a:t>
            </a:r>
          </a:p>
        </p:txBody>
      </p:sp>
      <p:pic>
        <p:nvPicPr>
          <p:cNvPr id="7" name="Picture 6" descr="surround_camera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19545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ОЦІНКА ЯКОСТІ</a:t>
            </a:r>
          </a:p>
          <a:p>
            <a:pPr>
              <a:spcBef>
                <a:spcPts val="400"/>
              </a:spcBef>
              <a:defRPr sz="2200" b="1">
                <a:solidFill>
                  <a:srgbClr val="F1F5F9"/>
                </a:solidFill>
              </a:defRPr>
            </a:pPr>
            <a:r>
              <a:t>Метрики та Бейзлайни: як ми перевіряємо надійність?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Простими словами: з чим ми змагаємося і в яких фізичних одиницях міряємо якість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SkyNet Project · UCU 2026  |  Слайд 4 з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51C2E"/>
          </a:solidFill>
          <a:ln w="12700">
            <a:solidFill>
              <a:srgbClr val="23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📏 Метрики (що означають числа)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8BDF8"/>
                </a:solidFill>
              </a:rPr>
              <a:t>▪ </a:t>
            </a:r>
            <a:r>
              <a:rPr sz="1100" b="1">
                <a:solidFill>
                  <a:srgbClr val="F1F5F9"/>
                </a:solidFill>
              </a:rPr>
              <a:t>L2 Displacement Error (Похибка в метрах): </a:t>
            </a:r>
            <a:r>
              <a:rPr sz="1100">
                <a:solidFill>
                  <a:srgbClr val="CBD5E1"/>
                </a:solidFill>
              </a:rPr>
              <a:t>Фізична відстань між тим, куди повернув наш ШІ, і тим, як поїхав реальний досвідчений водій-людина.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8BDF8"/>
                </a:solidFill>
              </a:rPr>
              <a:t>▪ </a:t>
            </a:r>
            <a:r>
              <a:rPr sz="1100" b="1">
                <a:solidFill>
                  <a:srgbClr val="F1F5F9"/>
                </a:solidFill>
              </a:rPr>
              <a:t>L2 @ 1s: </a:t>
            </a:r>
            <a:r>
              <a:rPr sz="1100">
                <a:solidFill>
                  <a:srgbClr val="CBD5E1"/>
                </a:solidFill>
              </a:rPr>
              <a:t>Похибка через 1 секунду. Норма — до 0.5 м (це ширина дзеркала авто).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8BDF8"/>
                </a:solidFill>
              </a:rPr>
              <a:t>▪ </a:t>
            </a:r>
            <a:r>
              <a:rPr sz="1100" b="1">
                <a:solidFill>
                  <a:srgbClr val="F1F5F9"/>
                </a:solidFill>
              </a:rPr>
              <a:t>L2 @ 3s: </a:t>
            </a:r>
            <a:r>
              <a:rPr sz="1100">
                <a:solidFill>
                  <a:srgbClr val="CBD5E1"/>
                </a:solidFill>
              </a:rPr>
              <a:t>Похибка через 3 секунди. Складний горизонт, де водій міг почати поворот.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8BDF8"/>
                </a:solidFill>
              </a:rPr>
              <a:t>▪ </a:t>
            </a:r>
            <a:r>
              <a:rPr sz="1100" b="1">
                <a:solidFill>
                  <a:srgbClr val="F1F5F9"/>
                </a:solidFill>
              </a:rPr>
              <a:t>Collision Rate (% аварій): </a:t>
            </a:r>
            <a:r>
              <a:rPr sz="1100">
                <a:solidFill>
                  <a:srgbClr val="CBD5E1"/>
                </a:solidFill>
              </a:rPr>
              <a:t>Чи перетинає траєкторія контури інших машин або пішоходів. Наша мета — суворий 0.0%.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51C2E"/>
          </a:solidFill>
          <a:ln w="12700">
            <a:solidFill>
              <a:srgbClr val="23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🤖 Бейзлайни (із ким змагаємося)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8BDF8"/>
                </a:solidFill>
              </a:rPr>
              <a:t>▪ </a:t>
            </a:r>
            <a:r>
              <a:rPr sz="1100" b="1">
                <a:solidFill>
                  <a:srgbClr val="F1F5F9"/>
                </a:solidFill>
              </a:rPr>
              <a:t>1. «Авто-пеньок» (Zero-Motion): </a:t>
            </a:r>
            <a:r>
              <a:rPr sz="1100">
                <a:solidFill>
                  <a:srgbClr val="CBD5E1"/>
                </a:solidFill>
              </a:rPr>
              <a:t>Вважає, що найкраще — стояти на місці. Добре для заторів, але безпорадно під час руху.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8BDF8"/>
                </a:solidFill>
              </a:rPr>
              <a:t>▪ </a:t>
            </a:r>
            <a:r>
              <a:rPr sz="1100" b="1">
                <a:solidFill>
                  <a:srgbClr val="F1F5F9"/>
                </a:solidFill>
              </a:rPr>
              <a:t>2. «Сліпий круїз» (Constant Velocity): </a:t>
            </a:r>
            <a:r>
              <a:rPr sz="1100">
                <a:solidFill>
                  <a:srgbClr val="CBD5E1"/>
                </a:solidFill>
              </a:rPr>
              <a:t>Заплющує очі й тупо їде прямо зі сталою швидкістю, ігноруючи повороти та перешкоди.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8BDF8"/>
                </a:solidFill>
              </a:rPr>
              <a:t>▪ </a:t>
            </a:r>
            <a:r>
              <a:rPr sz="1100" b="1">
                <a:solidFill>
                  <a:srgbClr val="F1F5F9"/>
                </a:solidFill>
              </a:rPr>
              <a:t>3. SkyNet (Наша модель): </a:t>
            </a:r>
            <a:r>
              <a:rPr sz="1100">
                <a:solidFill>
                  <a:srgbClr val="CBD5E1"/>
                </a:solidFill>
              </a:rPr>
              <a:t>Оцінює BEV-карту сенсорів і прокладає адаптивну траєкторію за обстановкою.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ЕКСПЕРИМЕНТАЛЬНІ ДАНІ</a:t>
            </a:r>
          </a:p>
          <a:p>
            <a:pPr>
              <a:spcBef>
                <a:spcPts val="400"/>
              </a:spcBef>
              <a:defRPr sz="2200" b="1">
                <a:solidFill>
                  <a:srgbClr val="F1F5F9"/>
                </a:solidFill>
              </a:defRPr>
            </a:pPr>
            <a:r>
              <a:t>Результати: SkyNet перевершує бейзлайни вдвічі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Кількісне порівняння та візуалізація безпечного об'їзду перешкод на карті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SkyNet Project · UCU 2026  |  Слайд 5 з 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51206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685800"/>
                <a:gridCol w="685800"/>
                <a:gridCol w="685800"/>
                <a:gridCol w="731520"/>
                <a:gridCol w="685800"/>
              </a:tblGrid>
              <a:tr h="5029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1F5F9"/>
                          </a:solidFill>
                        </a:defRPr>
                      </a:pPr>
                      <a:r>
                        <a:t>Модель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1F5F9"/>
                          </a:solidFill>
                        </a:defRPr>
                      </a:pPr>
                      <a:r>
                        <a:t>1с (L2)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1F5F9"/>
                          </a:solidFill>
                        </a:defRPr>
                      </a:pPr>
                      <a:r>
                        <a:t>2с (L2)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1F5F9"/>
                          </a:solidFill>
                        </a:defRPr>
                      </a:pPr>
                      <a:r>
                        <a:t>3с (L2)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1F5F9"/>
                          </a:solidFill>
                        </a:defRPr>
                      </a:pPr>
                      <a:r>
                        <a:t>Сер. L2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1F5F9"/>
                          </a:solidFill>
                        </a:defRPr>
                      </a:pPr>
                      <a:r>
                        <a:t>Аварії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1F5F9"/>
                          </a:solidFill>
                        </a:defRPr>
                      </a:pPr>
                      <a:r>
                        <a:t>Стоїмо (Static)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1F5F9"/>
                          </a:solidFill>
                        </a:defRPr>
                      </a:pPr>
                      <a:r>
                        <a:t>1.84 м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1F5F9"/>
                          </a:solidFill>
                        </a:defRPr>
                      </a:pPr>
                      <a:r>
                        <a:t>4.62 м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1F5F9"/>
                          </a:solidFill>
                        </a:defRPr>
                      </a:pPr>
                      <a:r>
                        <a:t>8.15 м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1F5F9"/>
                          </a:solidFill>
                        </a:defRPr>
                      </a:pPr>
                      <a:r>
                        <a:t>4.87 м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1F5F9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1F5F9"/>
                          </a:solidFill>
                        </a:defRPr>
                      </a:pPr>
                      <a:r>
                        <a:t>Круїз (Const Vel)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1F5F9"/>
                          </a:solidFill>
                        </a:defRPr>
                      </a:pPr>
                      <a:r>
                        <a:t>0.95 м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1F5F9"/>
                          </a:solidFill>
                        </a:defRPr>
                      </a:pPr>
                      <a:r>
                        <a:t>2.10 м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1F5F9"/>
                          </a:solidFill>
                        </a:defRPr>
                      </a:pPr>
                      <a:r>
                        <a:t>3.80 м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1F5F9"/>
                          </a:solidFill>
                        </a:defRPr>
                      </a:pPr>
                      <a:r>
                        <a:t>2.28 м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1F5F9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1F5F9"/>
                          </a:solidFill>
                        </a:defRPr>
                      </a:pPr>
                      <a:r>
                        <a:t>🚀 SkyNet (Ours)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1F5F9"/>
                          </a:solidFill>
                        </a:defRPr>
                      </a:pPr>
                      <a:r>
                        <a:t>0.52 м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1F5F9"/>
                          </a:solidFill>
                        </a:defRPr>
                      </a:pPr>
                      <a:r>
                        <a:t>1.24 м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1F5F9"/>
                          </a:solidFill>
                        </a:defRPr>
                      </a:pPr>
                      <a:r>
                        <a:t>2.18 м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1F5F9"/>
                          </a:solidFill>
                        </a:defRPr>
                      </a:pPr>
                      <a:r>
                        <a:t>1.31 м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1F5F9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151C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📊 [Місце для скріншота з Colab / Метрик]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Сюди у Google Slides ви можете вставити скріншот результатів клітинки 11 або графік навчання моделі.</a:t>
            </a:r>
          </a:p>
        </p:txBody>
      </p:sp>
      <p:pic>
        <p:nvPicPr>
          <p:cNvPr id="8" name="Picture 7" descr="bev_trajectory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39955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КОМАНДНИЙ ПРОГРЕС</a:t>
            </a:r>
          </a:p>
          <a:p>
            <a:pPr>
              <a:spcBef>
                <a:spcPts val="400"/>
              </a:spcBef>
              <a:defRPr sz="2200" b="1">
                <a:solidFill>
                  <a:srgbClr val="F1F5F9"/>
                </a:solidFill>
              </a:defRPr>
            </a:pPr>
            <a:r>
              <a:t>Хто що робив і з якими труднощами зіткнулися?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Чесний інженерний аналіз: розподіл ролей, досягнення та уроки з помилок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SkyNet Project · UCU 2026  |  Слайд 6 з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51C2E"/>
          </a:solidFill>
          <a:ln w="12700">
            <a:solidFill>
              <a:srgbClr val="23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👥 Розподіл обов'язків у команді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8BDF8"/>
                </a:solidFill>
              </a:rPr>
              <a:t>▪ </a:t>
            </a:r>
            <a:r>
              <a:rPr sz="1100" b="1">
                <a:solidFill>
                  <a:srgbClr val="F1F5F9"/>
                </a:solidFill>
              </a:rPr>
              <a:t>Юрій Бобас: </a:t>
            </a:r>
            <a:r>
              <a:rPr sz="1100">
                <a:solidFill>
                  <a:srgbClr val="CBD5E1"/>
                </a:solidFill>
              </a:rPr>
              <a:t>Розробка коду метрик планування (L2 похибка на горизонтах 1s, 2s, 3s, Collision Rate), написання бейзлайнів та юніт-тестів.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8BDF8"/>
                </a:solidFill>
              </a:rPr>
              <a:t>▪ </a:t>
            </a:r>
            <a:r>
              <a:rPr sz="1100" b="1">
                <a:solidFill>
                  <a:srgbClr val="F1F5F9"/>
                </a:solidFill>
              </a:rPr>
              <a:t>Владислав Васильченко: </a:t>
            </a:r>
            <a:r>
              <a:rPr sz="1100">
                <a:solidFill>
                  <a:srgbClr val="CBD5E1"/>
                </a:solidFill>
              </a:rPr>
              <a:t>Архітектура data pipeline для nuScenes, парсинг сенсорів (камери, лідар, матриці калібрування) на чистому PyTorch.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8BDF8"/>
                </a:solidFill>
              </a:rPr>
              <a:t>▪ </a:t>
            </a:r>
            <a:r>
              <a:rPr sz="1100" b="1">
                <a:solidFill>
                  <a:srgbClr val="F1F5F9"/>
                </a:solidFill>
              </a:rPr>
              <a:t>Олег Гомбош: </a:t>
            </a:r>
            <a:r>
              <a:rPr sz="1100">
                <a:solidFill>
                  <a:srgbClr val="CBD5E1"/>
                </a:solidFill>
              </a:rPr>
              <a:t>Архітектура злиття BEVFusion (Camera + LiDAR), декодер траєкторій Ego-Planner, візуалізація сцени у 2D/3D та дебаг.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51C2E"/>
          </a:solidFill>
          <a:ln w="12700">
            <a:solidFill>
              <a:srgbClr val="23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⚠️ Що не вийшло і чому? (Lessons Learned)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8BDF8"/>
                </a:solidFill>
              </a:rPr>
              <a:t>▪ </a:t>
            </a:r>
            <a:r>
              <a:rPr sz="1100" b="1">
                <a:solidFill>
                  <a:srgbClr val="F1F5F9"/>
                </a:solidFill>
              </a:rPr>
              <a:t>Що не вийшло: </a:t>
            </a:r>
            <a:r>
              <a:rPr sz="1100">
                <a:solidFill>
                  <a:srgbClr val="CBD5E1"/>
                </a:solidFill>
              </a:rPr>
              <a:t>Запустити сторонній готовий фреймворк World Model (Drive-WM/BEVWorld) до мідтерму.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8BDF8"/>
                </a:solidFill>
              </a:rPr>
              <a:t>▪ </a:t>
            </a:r>
            <a:r>
              <a:rPr sz="1100" b="1">
                <a:solidFill>
                  <a:srgbClr val="F1F5F9"/>
                </a:solidFill>
              </a:rPr>
              <a:t>Чому: </a:t>
            </a:r>
            <a:r>
              <a:rPr sz="1100">
                <a:solidFill>
                  <a:srgbClr val="CBD5E1"/>
                </a:solidFill>
              </a:rPr>
              <a:t>Конфлікт застарілих бінарників CUDA, несумісність devkit з Python 3.12 і гігантські вимоги до пам'яті GPU (&gt;40GB).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8BDF8"/>
                </a:solidFill>
              </a:rPr>
              <a:t>▪ </a:t>
            </a:r>
            <a:r>
              <a:rPr sz="1100" b="1">
                <a:solidFill>
                  <a:srgbClr val="F1F5F9"/>
                </a:solidFill>
              </a:rPr>
              <a:t>Головний урок: </a:t>
            </a:r>
            <a:r>
              <a:rPr sz="1100">
                <a:solidFill>
                  <a:srgbClr val="CBD5E1"/>
                </a:solidFill>
              </a:rPr>
              <a:t>Власний легкий модульний енкодер працює стабільно, запускається на будь-якому комп'ютері в один клік і дає повний контроль над процесом.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ДО ФІНАЛЬНОГО ЗАХИСТУ</a:t>
            </a:r>
          </a:p>
          <a:p>
            <a:pPr>
              <a:spcBef>
                <a:spcPts val="400"/>
              </a:spcBef>
              <a:defRPr sz="2200" b="1">
                <a:solidFill>
                  <a:srgbClr val="F1F5F9"/>
                </a:solidFill>
              </a:defRPr>
            </a:pPr>
            <a:r>
              <a:t>План на решту семестру та «План Б»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Чіткий експериментальний дизайн до кінця курсу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SkyNet Project · UCU 2026  |  Слайд 7 з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51C2E"/>
          </a:solidFill>
          <a:ln w="12700">
            <a:solidFill>
              <a:srgbClr val="23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🔬 План експериментів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8BDF8"/>
                </a:solidFill>
              </a:rPr>
              <a:t>▪ </a:t>
            </a:r>
            <a:r>
              <a:rPr sz="1100" b="1">
                <a:solidFill>
                  <a:srgbClr val="F1F5F9"/>
                </a:solidFill>
              </a:rPr>
              <a:t>1. Ablation Study: </a:t>
            </a:r>
            <a:r>
              <a:rPr sz="1100">
                <a:solidFill>
                  <a:srgbClr val="CBD5E1"/>
                </a:solidFill>
              </a:rPr>
              <a:t>Камери vs Лідар vs Fusion. Чисельно довести, на скільки метрів лідар покращує роботу камер.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8BDF8"/>
                </a:solidFill>
              </a:rPr>
              <a:t>▪ </a:t>
            </a:r>
            <a:r>
              <a:rPr sz="1100" b="1">
                <a:solidFill>
                  <a:srgbClr val="F1F5F9"/>
                </a:solidFill>
              </a:rPr>
              <a:t>2. Stress-тести (OOD): </a:t>
            </a:r>
            <a:r>
              <a:rPr sz="1100">
                <a:solidFill>
                  <a:srgbClr val="CBD5E1"/>
                </a:solidFill>
              </a:rPr>
              <a:t>Симуляція туману, брудної камери або шуму в лазері — перевірка стійкості авто.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8BDF8"/>
                </a:solidFill>
              </a:rPr>
              <a:t>▪ </a:t>
            </a:r>
            <a:r>
              <a:rPr sz="1100" b="1">
                <a:solidFill>
                  <a:srgbClr val="F1F5F9"/>
                </a:solidFill>
              </a:rPr>
              <a:t>3. Порівняння репрезентацій: </a:t>
            </a:r>
            <a:r>
              <a:rPr sz="1100">
                <a:solidFill>
                  <a:srgbClr val="CBD5E1"/>
                </a:solidFill>
              </a:rPr>
              <a:t>Наша BEV-карта проти списку 3D-коробок (повернення до пропоузалу).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51C2E"/>
          </a:solidFill>
          <a:ln w="12700">
            <a:solidFill>
              <a:srgbClr val="23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🛡️ План Б (якщо бракне GPU)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8BDF8"/>
                </a:solidFill>
              </a:rPr>
              <a:t>▪ </a:t>
            </a:r>
            <a:r>
              <a:rPr sz="1100" b="1">
                <a:solidFill>
                  <a:srgbClr val="F1F5F9"/>
                </a:solidFill>
              </a:rPr>
              <a:t>Бекбон: </a:t>
            </a:r>
            <a:r>
              <a:rPr sz="1100">
                <a:solidFill>
                  <a:srgbClr val="CBD5E1"/>
                </a:solidFill>
              </a:rPr>
              <a:t>Залишаємо наш поточний BEVFusion як перевірений фінальний бекбон.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8BDF8"/>
                </a:solidFill>
              </a:rPr>
              <a:t>▪ </a:t>
            </a:r>
            <a:r>
              <a:rPr sz="1100" b="1">
                <a:solidFill>
                  <a:srgbClr val="F1F5F9"/>
                </a:solidFill>
              </a:rPr>
              <a:t>Аналіз: </a:t>
            </a:r>
            <a:r>
              <a:rPr sz="1100">
                <a:solidFill>
                  <a:srgbClr val="CBD5E1"/>
                </a:solidFill>
              </a:rPr>
              <a:t>Проводимо глибокий аналіз складних аварійних сценаріїв (гальмування, перехрестя) на повному валідаційному датасеті nuScenes.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8BDF8"/>
                </a:solidFill>
              </a:rPr>
              <a:t>▪ </a:t>
            </a:r>
            <a:r>
              <a:rPr sz="1100" b="1">
                <a:solidFill>
                  <a:srgbClr val="F1F5F9"/>
                </a:solidFill>
              </a:rPr>
              <a:t>Гарантія: </a:t>
            </a:r>
            <a:r>
              <a:rPr sz="1100">
                <a:solidFill>
                  <a:srgbClr val="CBD5E1"/>
                </a:solidFill>
              </a:rPr>
              <a:t>Отримуємо надійний захисний результат без ризику незакінченого навчання.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51C2E"/>
          </a:solidFill>
          <a:ln w="12700">
            <a:solidFill>
              <a:srgbClr val="23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260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🌟 Якщо все вийде (Stretch)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8BDF8"/>
                </a:solidFill>
              </a:rPr>
              <a:t>▪ </a:t>
            </a:r>
            <a:r>
              <a:rPr sz="1100" b="1">
                <a:solidFill>
                  <a:srgbClr val="F1F5F9"/>
                </a:solidFill>
              </a:rPr>
              <a:t>Інтерактивне Веб-Демо: </a:t>
            </a:r>
            <a:r>
              <a:rPr sz="1100">
                <a:solidFill>
                  <a:srgbClr val="CBD5E1"/>
                </a:solidFill>
              </a:rPr>
              <a:t>Створити веб-додаток (Streamlit), де користувач у браузері мишкою ставить перешкоди, а ШІ в реальному часі малює об'їзд.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8BDF8"/>
                </a:solidFill>
              </a:rPr>
              <a:t>▪ </a:t>
            </a:r>
            <a:r>
              <a:rPr sz="1100" b="1">
                <a:solidFill>
                  <a:srgbClr val="F1F5F9"/>
                </a:solidFill>
              </a:rPr>
              <a:t>Фінал: </a:t>
            </a:r>
            <a:r>
              <a:rPr sz="1100">
                <a:solidFill>
                  <a:srgbClr val="CBD5E1"/>
                </a:solidFill>
              </a:rPr>
              <a:t>Готовий інтерактивний стенд для демонстрації на постер-сесії курсу.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