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Доповідає: Юрій. 30 с. World model прогнозує, як зміниться дорожня сцена в наступні секунди. Ми порівнюємо три способи описати сцену: як список об'єктів, як карту зверху (BEV) і як стиснену карту (latent BEV), і перевіряємо, з яким прогноз на 1–3 секунди найточніший. Перше представлення готове, друге зібране й навчене, третє — наступний етап.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Доповідає: Владислав. 45 с. Беремо nuScenes mini: 8 сцен для навчання, 2 для тесту. Модель бачить 3 минулі кадри і прогнозує 6 наступних, тобто 3 секунди. Object-centric описує кожного учасника руху кількома числами — це найкомпактніше і найзрозуміліше. BEV — карта зверху, на яку зводимо 6 камер і лідар; ми взяли архітектуру BEVFusion, бо це поширений підхід і він вміщається в GPU Colab. Latent BEV — та сама карта, стиснена автоенкодером у латентний простір, де прогнозувати дешевше.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Доповідає: Олег. 40 с. Для траєкторії нашого авто міряємо L2 — відхилення в метрах через 1, 2 і 3 секунди — і collision rate, частку зіткнень з іншими агентами. Для агентів — ADE і FDE, середню та кінцеву похибку прогнозу, і miss rate — частку промахів понад 2 метри. Усе реалізовано в коді з тестами. Бейзлайни: zero-motion (сцена не змінюється) і constant velocity (рух з останньою виміряною швидкістю). Ми стежили, щоб бейзлайни бачили лише минуле, а тест був на сценах, яких модель не бачила.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Доповідає: Владислав. 45 с. На навчальних сценах модель помиляється в середньому лише на ~0.1 м — у кілька разів менше, ніж constant velocity (≈1 м на тих самих сценах). Але на двох нових сценах її похибка 2.81 м, а в constant velocity 2.45 м. Тобто модель запам'ятала навчальні приклади, а не навчилася узагальнювати — це перенавчання. Причини: лише 267 навчальних прикладів, а енкодер камер і лідара ще не навчений. На анімації: жовте — як їхав водій, зелене — прогноз моделі; видно, що модель не завжди помічає, що водій гальмує.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Доповідає: Юрій. 45 с. Кожну сцену перетворюємо на тензор: кадри × агенти × 11 ознак; усі анотації потрапляють у тензор. Constant velocity у 4 рази точніша за persistence за FDE на 3 с — саме її має обійти наша навчена модель. На картинці пунктир — прогноз constant velocity, жовте — реальний рух: вони розходяться на поворотах і при гальмуванні.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Доповідає: Олег. 45 с. З пропоузалу готові: підготовка даних, спільні метрики, бейзлайни і object-centric представлення. BEV-модель зібрана й навчена, але на нових сценах ще не краща за constant velocity. Latent BEV, стрес-тести і демо ще не почали: спершу хотіли, щоб порівняння було чесним і однаковим для всіх. Справа — хто що зробив.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Доповідає: Юрій. 50 с. Спершу боремося з перенавчанням BEV: early stopping на окремій тренувальній сцені, LiDAR-растр і pretrained ResNet для камер. Потім навчена object-centric модель і спільна BEV-карта зайнятості, на якій порівнюємо всі представлення. Далі latent BEV — автоенкодер і прогноз у латентному просторі — та частина trainval. Наприкінці стрес-тести, демо і звіт. План Б: якщо дифузія не вміщається в GPU — простіший прогноз у латентному просторі; якщо енкодер не вчиться — будуємо BEV-карту прямо з анотацій і порівнюємо лише прогноз.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gi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65760"/>
            <a:ext cx="3209544" cy="27432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0B0F19"/>
                </a:solidFill>
                <a:latin typeface="Calibri"/>
              </a:rPr>
              <a:t>AI COURSE · ПРОМІЖНИЙ ПРОГРЕС ·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F1F5F9"/>
                </a:solidFill>
                <a:latin typeface="Calibri"/>
              </a:rPr>
              <a:t>Яке представлення сцени найкраще для world model?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94A3B8"/>
                </a:solidFill>
                <a:latin typeface="Calibri"/>
              </a:rPr>
              <a:t>Порівнюємо object-centric, BEV і latent BEV на nuScenes за однаковими правилами оцінки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94A3B8"/>
                </a:solidFill>
                <a:latin typeface="Calibri"/>
              </a:rPr>
              <a:t>SkyNet · Бобас, Васильченко, Гомбош · AI course, УКУ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1512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94A3B8"/>
                </a:solidFill>
                <a:latin typeface="Calibri"/>
              </a:rPr>
              <a:t>1 / 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11680"/>
            <a:ext cx="5120640" cy="3657600"/>
          </a:xfrm>
          <a:prstGeom prst="roundRect">
            <a:avLst>
              <a:gd name="adj" fmla="val 6000"/>
            </a:avLst>
          </a:prstGeom>
          <a:solidFill>
            <a:srgbClr val="151C2E"/>
          </a:solidFill>
          <a:ln w="12700">
            <a:solidFill>
              <a:srgbClr val="232F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466344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 i="0">
                <a:solidFill>
                  <a:srgbClr val="38BDF8"/>
                </a:solidFill>
                <a:latin typeface="Calibri"/>
              </a:rPr>
              <a:t>Команда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F1F5F9"/>
                </a:solidFill>
                <a:latin typeface="Calibri"/>
              </a:rPr>
              <a:t>Юрій Бобас · Владислав Васильченко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F1F5F9"/>
                </a:solidFill>
                <a:latin typeface="Calibri"/>
              </a:rPr>
              <a:t>Олег Гомбош</a:t>
            </a:r>
          </a:p>
          <a:p>
            <a:pPr algn="l">
              <a:spcAft>
                <a:spcPts val="700"/>
              </a:spcAft>
            </a:pPr>
            <a:r>
              <a:rPr sz="1700" b="1" i="0">
                <a:solidFill>
                  <a:srgbClr val="38BDF8"/>
                </a:solidFill>
                <a:latin typeface="Calibri"/>
              </a:rPr>
              <a:t>Менторка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F1F5F9"/>
                </a:solidFill>
                <a:latin typeface="Calibri"/>
              </a:rPr>
              <a:t>Марта Сумик</a:t>
            </a:r>
          </a:p>
          <a:p>
            <a:pPr algn="l">
              <a:spcAft>
                <a:spcPts val="700"/>
              </a:spcAft>
            </a:pPr>
            <a:r>
              <a:rPr sz="1700" b="1" i="0">
                <a:solidFill>
                  <a:srgbClr val="38BDF8"/>
                </a:solidFill>
                <a:latin typeface="Calibri"/>
              </a:rPr>
              <a:t>Репозиторій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F1F5F9"/>
                </a:solidFill>
                <a:latin typeface="Calibri"/>
              </a:rPr>
              <a:t>github.com/Hombosh-dev/SkyNet</a:t>
            </a:r>
          </a:p>
          <a:p>
            <a:pPr algn="l">
              <a:spcAft>
                <a:spcPts val="700"/>
              </a:spcAft>
            </a:pPr>
            <a:r>
              <a:rPr sz="1700" b="1" i="0">
                <a:solidFill>
                  <a:srgbClr val="38BDF8"/>
                </a:solidFill>
                <a:latin typeface="Calibri"/>
              </a:rPr>
              <a:t>Дані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F1F5F9"/>
                </a:solidFill>
                <a:latin typeface="Calibri"/>
              </a:rPr>
              <a:t>nuScenes mini: 10 сцен по 20 с, 6 камер + LiDAR</a:t>
            </a:r>
          </a:p>
        </p:txBody>
      </p:sp>
      <p:pic>
        <p:nvPicPr>
          <p:cNvPr id="9" name="Picture 8" descr="surround_camera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2011680"/>
            <a:ext cx="5605272" cy="210197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0" y="4186809"/>
            <a:ext cx="56052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94A3B8"/>
                </a:solidFill>
                <a:latin typeface="Calibri"/>
              </a:rPr>
              <a:t>6 камер одного моменту з nuScenes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4799457"/>
            <a:ext cx="1783080" cy="868680"/>
          </a:xfrm>
          <a:prstGeom prst="roundRect">
            <a:avLst>
              <a:gd name="adj" fmla="val 6000"/>
            </a:avLst>
          </a:prstGeom>
          <a:solidFill>
            <a:srgbClr val="151C2E"/>
          </a:solidFill>
          <a:ln w="12700">
            <a:solidFill>
              <a:srgbClr val="232F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72200" y="4890897"/>
            <a:ext cx="1554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F1F5F9"/>
                </a:solidFill>
                <a:latin typeface="Calibri"/>
              </a:rPr>
              <a:t>Object-centric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5274945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0B0F19"/>
                </a:solidFill>
                <a:latin typeface="Calibri"/>
              </a:rPr>
              <a:t>ГОТОВО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4799457"/>
            <a:ext cx="1783080" cy="868680"/>
          </a:xfrm>
          <a:prstGeom prst="roundRect">
            <a:avLst>
              <a:gd name="adj" fmla="val 6000"/>
            </a:avLst>
          </a:prstGeom>
          <a:solidFill>
            <a:srgbClr val="151C2E"/>
          </a:solidFill>
          <a:ln w="12700">
            <a:solidFill>
              <a:srgbClr val="232F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40" y="4890897"/>
            <a:ext cx="1554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F1F5F9"/>
                </a:solidFill>
                <a:latin typeface="Calibri"/>
              </a:rPr>
              <a:t>BEV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5274945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0B0F19"/>
                </a:solidFill>
                <a:latin typeface="Calibri"/>
              </a:rPr>
              <a:t>ДОНАВЧАННЯ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875520" y="4799457"/>
            <a:ext cx="1783080" cy="868680"/>
          </a:xfrm>
          <a:prstGeom prst="roundRect">
            <a:avLst>
              <a:gd name="adj" fmla="val 6000"/>
            </a:avLst>
          </a:prstGeom>
          <a:solidFill>
            <a:srgbClr val="151C2E"/>
          </a:solidFill>
          <a:ln w="12700">
            <a:solidFill>
              <a:srgbClr val="232F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12680" y="4890897"/>
            <a:ext cx="1554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F1F5F9"/>
                </a:solidFill>
                <a:latin typeface="Calibri"/>
              </a:rPr>
              <a:t>Latent BEV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12680" y="5274945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0B0F19"/>
                </a:solidFill>
                <a:latin typeface="Calibri"/>
              </a:rPr>
              <a:t>ПЛАНУЄТЬСЯ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65760"/>
            <a:ext cx="2510028" cy="27432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0B0F19"/>
                </a:solidFill>
                <a:latin typeface="Calibri"/>
              </a:rPr>
              <a:t>ТЕХНІЧНА ЧАСТИНА ·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F1F5F9"/>
                </a:solidFill>
                <a:latin typeface="Calibri"/>
              </a:rPr>
              <a:t>Pipeline і чому саме ці моделі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94A3B8"/>
                </a:solidFill>
                <a:latin typeface="Calibri"/>
              </a:rPr>
              <a:t>Усі представлення отримують ті самі кадри й оцінюються тими самими метриками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94A3B8"/>
                </a:solidFill>
                <a:latin typeface="Calibri"/>
              </a:rPr>
              <a:t>SkyNet · Бобас, Васильченко, Гомбош · AI course, УКУ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1512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94A3B8"/>
                </a:solidFill>
                <a:latin typeface="Calibri"/>
              </a:rPr>
              <a:t>2 / 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65960"/>
            <a:ext cx="1874519" cy="1234440"/>
          </a:xfrm>
          <a:prstGeom prst="roundRect">
            <a:avLst>
              <a:gd name="adj" fmla="val 6000"/>
            </a:avLst>
          </a:prstGeom>
          <a:solidFill>
            <a:srgbClr val="151C2E"/>
          </a:solidFill>
          <a:ln w="12700">
            <a:solidFill>
              <a:srgbClr val="232F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103120"/>
            <a:ext cx="160019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38BDF8"/>
                </a:solidFill>
                <a:latin typeface="Calibri"/>
              </a:rPr>
              <a:t>nuScenes mini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96312"/>
            <a:ext cx="160019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F1F5F9"/>
                </a:solidFill>
                <a:latin typeface="Calibri"/>
              </a:rPr>
              <a:t>8 сцен — навчання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F1F5F9"/>
                </a:solidFill>
                <a:latin typeface="Calibri"/>
              </a:rPr>
              <a:t>2 сцени — тест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487168" y="2441448"/>
            <a:ext cx="411480" cy="292608"/>
          </a:xfrm>
          <a:prstGeom prst="rightArrow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43784" y="1965960"/>
            <a:ext cx="1874519" cy="1234440"/>
          </a:xfrm>
          <a:prstGeom prst="roundRect">
            <a:avLst>
              <a:gd name="adj" fmla="val 6000"/>
            </a:avLst>
          </a:prstGeom>
          <a:solidFill>
            <a:srgbClr val="151C2E"/>
          </a:solidFill>
          <a:ln w="12700">
            <a:solidFill>
              <a:srgbClr val="232F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80944" y="2103120"/>
            <a:ext cx="160019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38BDF8"/>
                </a:solidFill>
                <a:latin typeface="Calibri"/>
              </a:rPr>
              <a:t>3 минулі кадри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80944" y="2496312"/>
            <a:ext cx="160019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F1F5F9"/>
                </a:solidFill>
                <a:latin typeface="Calibri"/>
              </a:rPr>
              <a:t>камери, LiDAR,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F1F5F9"/>
                </a:solidFill>
                <a:latin typeface="Calibri"/>
              </a:rPr>
              <a:t>анотації, рух авто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782312" y="2441448"/>
            <a:ext cx="411480" cy="292608"/>
          </a:xfrm>
          <a:prstGeom prst="rightArrow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38927" y="1965960"/>
            <a:ext cx="1874519" cy="1234440"/>
          </a:xfrm>
          <a:prstGeom prst="roundRect">
            <a:avLst>
              <a:gd name="adj" fmla="val 6000"/>
            </a:avLst>
          </a:prstGeom>
          <a:solidFill>
            <a:srgbClr val="122A45"/>
          </a:solidFill>
          <a:ln w="12700">
            <a:solidFill>
              <a:srgbClr val="232F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76088" y="2103120"/>
            <a:ext cx="160019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38BDF8"/>
                </a:solidFill>
                <a:latin typeface="Calibri"/>
              </a:rPr>
              <a:t>Представлення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76088" y="2496312"/>
            <a:ext cx="160019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F1F5F9"/>
                </a:solidFill>
                <a:latin typeface="Calibri"/>
              </a:rPr>
              <a:t>object-centric · BEV ·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F1F5F9"/>
                </a:solidFill>
                <a:latin typeface="Calibri"/>
              </a:rPr>
              <a:t>latent BEV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077455" y="2441448"/>
            <a:ext cx="411480" cy="292608"/>
          </a:xfrm>
          <a:prstGeom prst="rightArrow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434071" y="1965960"/>
            <a:ext cx="1874519" cy="1234440"/>
          </a:xfrm>
          <a:prstGeom prst="roundRect">
            <a:avLst>
              <a:gd name="adj" fmla="val 6000"/>
            </a:avLst>
          </a:prstGeom>
          <a:solidFill>
            <a:srgbClr val="151C2E"/>
          </a:solidFill>
          <a:ln w="12700">
            <a:solidFill>
              <a:srgbClr val="232F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71231" y="2103120"/>
            <a:ext cx="160019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38BDF8"/>
                </a:solidFill>
                <a:latin typeface="Calibri"/>
              </a:rPr>
              <a:t>Прогноз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71231" y="2496312"/>
            <a:ext cx="160019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F1F5F9"/>
                </a:solidFill>
                <a:latin typeface="Calibri"/>
              </a:rPr>
              <a:t>6 кадрів = 3 с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372600" y="2441448"/>
            <a:ext cx="411480" cy="292608"/>
          </a:xfrm>
          <a:prstGeom prst="rightArrow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729215" y="1965960"/>
            <a:ext cx="1874519" cy="1234440"/>
          </a:xfrm>
          <a:prstGeom prst="roundRect">
            <a:avLst>
              <a:gd name="adj" fmla="val 6000"/>
            </a:avLst>
          </a:prstGeom>
          <a:solidFill>
            <a:srgbClr val="151C2E"/>
          </a:solidFill>
          <a:ln w="12700">
            <a:solidFill>
              <a:srgbClr val="232F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66376" y="2103120"/>
            <a:ext cx="160019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38BDF8"/>
                </a:solidFill>
                <a:latin typeface="Calibri"/>
              </a:rPr>
              <a:t>Оцінка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66376" y="2496312"/>
            <a:ext cx="160019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F1F5F9"/>
                </a:solidFill>
                <a:latin typeface="Calibri"/>
              </a:rPr>
              <a:t>однакові метрики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F1F5F9"/>
                </a:solidFill>
                <a:latin typeface="Calibri"/>
              </a:rPr>
              <a:t>і бейзлайни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3520440"/>
            <a:ext cx="3514344" cy="2606040"/>
          </a:xfrm>
          <a:prstGeom prst="roundRect">
            <a:avLst>
              <a:gd name="adj" fmla="val 6000"/>
            </a:avLst>
          </a:prstGeom>
          <a:solidFill>
            <a:srgbClr val="151C2E"/>
          </a:solidFill>
          <a:ln w="12700">
            <a:solidFill>
              <a:srgbClr val="232F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31520" y="3703320"/>
            <a:ext cx="1499616" cy="27432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0B0F19"/>
                </a:solidFill>
                <a:latin typeface="Calibri"/>
              </a:rPr>
              <a:t>Object-centric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160520"/>
            <a:ext cx="3148584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94A3B8"/>
                </a:solidFill>
                <a:latin typeface="Calibri"/>
              </a:rPr>
              <a:t>Що: </a:t>
            </a:r>
            <a:r>
              <a:rPr sz="1600" b="0" i="0">
                <a:solidFill>
                  <a:srgbClr val="F1F5F9"/>
                </a:solidFill>
                <a:latin typeface="Calibri"/>
              </a:rPr>
              <a:t>кожен обʼєкт — вектор: положення, розмір, курс, швидкість, клас</a:t>
            </a:r>
          </a:p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94A3B8"/>
                </a:solidFill>
                <a:latin typeface="Calibri"/>
              </a:rPr>
              <a:t>Чому: </a:t>
            </a:r>
            <a:r>
              <a:rPr sz="1600" b="0" i="0">
                <a:solidFill>
                  <a:srgbClr val="F1F5F9"/>
                </a:solidFill>
                <a:latin typeface="Calibri"/>
              </a:rPr>
              <a:t>найкомпактніший та інтерпретований опис сцени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37304" y="3520440"/>
            <a:ext cx="3514344" cy="2606040"/>
          </a:xfrm>
          <a:prstGeom prst="roundRect">
            <a:avLst>
              <a:gd name="adj" fmla="val 6000"/>
            </a:avLst>
          </a:prstGeom>
          <a:solidFill>
            <a:srgbClr val="151C2E"/>
          </a:solidFill>
          <a:ln w="12700">
            <a:solidFill>
              <a:srgbClr val="232F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520184" y="3703320"/>
            <a:ext cx="1577340" cy="27432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0B0F19"/>
                </a:solidFill>
                <a:latin typeface="Calibri"/>
              </a:rPr>
              <a:t>BEV (BEVFusion)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0184" y="4160520"/>
            <a:ext cx="3148584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94A3B8"/>
                </a:solidFill>
                <a:latin typeface="Calibri"/>
              </a:rPr>
              <a:t>Що: </a:t>
            </a:r>
            <a:r>
              <a:rPr sz="1600" b="0" i="0">
                <a:solidFill>
                  <a:srgbClr val="F1F5F9"/>
                </a:solidFill>
                <a:latin typeface="Calibri"/>
              </a:rPr>
              <a:t>6 камер (Lift-Splat) + LiDAR (PointPillars) в одну карту зверху 100 × 100 м</a:t>
            </a:r>
          </a:p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94A3B8"/>
                </a:solidFill>
                <a:latin typeface="Calibri"/>
              </a:rPr>
              <a:t>Чому: </a:t>
            </a:r>
            <a:r>
              <a:rPr sz="1600" b="0" i="0">
                <a:solidFill>
                  <a:srgbClr val="F1F5F9"/>
                </a:solidFill>
                <a:latin typeface="Calibri"/>
              </a:rPr>
              <a:t>популярна архітектура для об'єднання камер і LiDAR; достатньо легка для безкоштовного GPU в Colab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25968" y="3520440"/>
            <a:ext cx="3514344" cy="2606040"/>
          </a:xfrm>
          <a:prstGeom prst="roundRect">
            <a:avLst>
              <a:gd name="adj" fmla="val 6000"/>
            </a:avLst>
          </a:prstGeom>
          <a:solidFill>
            <a:srgbClr val="151C2E"/>
          </a:solidFill>
          <a:ln w="12700">
            <a:solidFill>
              <a:srgbClr val="232F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308847" y="3703320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0B0F19"/>
                </a:solidFill>
                <a:latin typeface="Calibri"/>
              </a:rPr>
              <a:t>Latent BEV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08847" y="4160520"/>
            <a:ext cx="3148584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94A3B8"/>
                </a:solidFill>
                <a:latin typeface="Calibri"/>
              </a:rPr>
              <a:t>Що: </a:t>
            </a:r>
            <a:r>
              <a:rPr sz="1600" b="0" i="0">
                <a:solidFill>
                  <a:srgbClr val="F1F5F9"/>
                </a:solidFill>
                <a:latin typeface="Calibri"/>
              </a:rPr>
              <a:t>та сама карта, стиснена автоенкодером у латентний простір</a:t>
            </a:r>
          </a:p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94A3B8"/>
                </a:solidFill>
                <a:latin typeface="Calibri"/>
              </a:rPr>
              <a:t>Чому: </a:t>
            </a:r>
            <a:r>
              <a:rPr sz="1600" b="0" i="0">
                <a:solidFill>
                  <a:srgbClr val="F1F5F9"/>
                </a:solidFill>
                <a:latin typeface="Calibri"/>
              </a:rPr>
              <a:t>прогноз у латентному просторі дешевший, ніж генерувати повну карту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65760"/>
            <a:ext cx="3364992" cy="27432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0B0F19"/>
                </a:solidFill>
                <a:latin typeface="Calibri"/>
              </a:rPr>
              <a:t>ТЕХНІЧНА ЧАСТИНА · МЕТРИКИ Й БЕЙЗЛАЙНИ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F1F5F9"/>
                </a:solidFill>
                <a:latin typeface="Calibri"/>
              </a:rPr>
              <a:t>Як ми міряємо: метрики та бейзлайни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94A3B8"/>
                </a:solidFill>
                <a:latin typeface="Calibri"/>
              </a:rPr>
              <a:t>Модель має сенс, лише якщо вона точніша за прості бейзлайни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94A3B8"/>
                </a:solidFill>
                <a:latin typeface="Calibri"/>
              </a:rPr>
              <a:t>SkyNet · Бобас, Васильченко, Гомбош · AI course, УКУ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1512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94A3B8"/>
                </a:solidFill>
                <a:latin typeface="Calibri"/>
              </a:rPr>
              <a:t>3 / 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011680"/>
          <a:ext cx="6949440" cy="28346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920240"/>
                <a:gridCol w="3383280"/>
                <a:gridCol w="164592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94A3B8"/>
                          </a:solidFill>
                          <a:latin typeface="Calibri"/>
                        </a:rPr>
                        <a:t>Метрика</a:t>
                      </a:r>
                    </a:p>
                  </a:txBody>
                  <a:tcPr marL="91440" marR="91440" marT="36576" marB="36576" anchor="ctr">
                    <a:lnL w="12700" cmpd="sng">
                      <a:solidFill>
                        <a:srgbClr val="232F48"/>
                      </a:solidFill>
                    </a:lnL>
                    <a:lnR w="12700" cmpd="sng">
                      <a:solidFill>
                        <a:srgbClr val="232F48"/>
                      </a:solidFill>
                    </a:lnR>
                    <a:lnT w="12700" cmpd="sng">
                      <a:solidFill>
                        <a:srgbClr val="232F48"/>
                      </a:solidFill>
                    </a:lnT>
                    <a:lnB w="12700" cmpd="sng">
                      <a:solidFill>
                        <a:srgbClr val="232F48"/>
                      </a:solidFill>
                    </a:lnB>
                    <a:solidFill>
                      <a:srgbClr val="232F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94A3B8"/>
                          </a:solidFill>
                          <a:latin typeface="Calibri"/>
                        </a:rPr>
                        <a:t>Що вимірює</a:t>
                      </a:r>
                    </a:p>
                  </a:txBody>
                  <a:tcPr marL="91440" marR="91440" marT="36576" marB="36576" anchor="ctr">
                    <a:lnL w="12700" cmpd="sng">
                      <a:solidFill>
                        <a:srgbClr val="232F48"/>
                      </a:solidFill>
                    </a:lnL>
                    <a:lnR w="12700" cmpd="sng">
                      <a:solidFill>
                        <a:srgbClr val="232F48"/>
                      </a:solidFill>
                    </a:lnR>
                    <a:lnT w="12700" cmpd="sng">
                      <a:solidFill>
                        <a:srgbClr val="232F48"/>
                      </a:solidFill>
                    </a:lnT>
                    <a:lnB w="12700" cmpd="sng">
                      <a:solidFill>
                        <a:srgbClr val="232F48"/>
                      </a:solidFill>
                    </a:lnB>
                    <a:solidFill>
                      <a:srgbClr val="232F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94A3B8"/>
                          </a:solidFill>
                          <a:latin typeface="Calibri"/>
                        </a:rPr>
                        <a:t>Для чого</a:t>
                      </a:r>
                    </a:p>
                  </a:txBody>
                  <a:tcPr marL="91440" marR="91440" marT="36576" marB="36576" anchor="ctr">
                    <a:lnL w="12700" cmpd="sng">
                      <a:solidFill>
                        <a:srgbClr val="232F48"/>
                      </a:solidFill>
                    </a:lnL>
                    <a:lnR w="12700" cmpd="sng">
                      <a:solidFill>
                        <a:srgbClr val="232F48"/>
                      </a:solidFill>
                    </a:lnR>
                    <a:lnT w="12700" cmpd="sng">
                      <a:solidFill>
                        <a:srgbClr val="232F48"/>
                      </a:solidFill>
                    </a:lnT>
                    <a:lnB w="12700" cmpd="sng">
                      <a:solidFill>
                        <a:srgbClr val="232F48"/>
                      </a:solidFill>
                    </a:lnB>
                    <a:solidFill>
                      <a:srgbClr val="232F4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F1F5F9"/>
                          </a:solidFill>
                          <a:latin typeface="Calibri"/>
                        </a:rPr>
                        <a:t>L2 @ 1/2/3 с</a:t>
                      </a:r>
                    </a:p>
                  </a:txBody>
                  <a:tcPr marL="91440" marR="91440" marT="36576" marB="36576" anchor="ctr">
                    <a:lnL w="12700" cmpd="sng">
                      <a:solidFill>
                        <a:srgbClr val="232F48"/>
                      </a:solidFill>
                    </a:lnL>
                    <a:lnR w="12700" cmpd="sng">
                      <a:solidFill>
                        <a:srgbClr val="232F48"/>
                      </a:solidFill>
                    </a:lnR>
                    <a:lnT w="12700" cmpd="sng">
                      <a:solidFill>
                        <a:srgbClr val="232F48"/>
                      </a:solidFill>
                    </a:lnT>
                    <a:lnB w="12700" cmpd="sng">
                      <a:solidFill>
                        <a:srgbClr val="232F48"/>
                      </a:solidFill>
                    </a:lnB>
                    <a:solidFill>
                      <a:srgbClr val="151C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F1F5F9"/>
                          </a:solidFill>
                          <a:latin typeface="Calibri"/>
                        </a:rPr>
                        <a:t>відхилення траєкторії авто, м</a:t>
                      </a:r>
                    </a:p>
                  </a:txBody>
                  <a:tcPr marL="91440" marR="91440" marT="36576" marB="36576" anchor="ctr">
                    <a:lnL w="12700" cmpd="sng">
                      <a:solidFill>
                        <a:srgbClr val="232F48"/>
                      </a:solidFill>
                    </a:lnL>
                    <a:lnR w="12700" cmpd="sng">
                      <a:solidFill>
                        <a:srgbClr val="232F48"/>
                      </a:solidFill>
                    </a:lnR>
                    <a:lnT w="12700" cmpd="sng">
                      <a:solidFill>
                        <a:srgbClr val="232F48"/>
                      </a:solidFill>
                    </a:lnT>
                    <a:lnB w="12700" cmpd="sng">
                      <a:solidFill>
                        <a:srgbClr val="232F48"/>
                      </a:solidFill>
                    </a:lnB>
                    <a:solidFill>
                      <a:srgbClr val="15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F1F5F9"/>
                          </a:solidFill>
                          <a:latin typeface="Calibri"/>
                        </a:rPr>
                        <a:t>BEV, усі</a:t>
                      </a:r>
                    </a:p>
                  </a:txBody>
                  <a:tcPr marL="91440" marR="91440" marT="36576" marB="36576" anchor="ctr">
                    <a:lnL w="12700" cmpd="sng">
                      <a:solidFill>
                        <a:srgbClr val="232F48"/>
                      </a:solidFill>
                    </a:lnL>
                    <a:lnR w="12700" cmpd="sng">
                      <a:solidFill>
                        <a:srgbClr val="232F48"/>
                      </a:solidFill>
                    </a:lnR>
                    <a:lnT w="12700" cmpd="sng">
                      <a:solidFill>
                        <a:srgbClr val="232F48"/>
                      </a:solidFill>
                    </a:lnT>
                    <a:lnB w="12700" cmpd="sng">
                      <a:solidFill>
                        <a:srgbClr val="232F48"/>
                      </a:solidFill>
                    </a:lnB>
                    <a:solidFill>
                      <a:srgbClr val="151C2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F1F5F9"/>
                          </a:solidFill>
                          <a:latin typeface="Calibri"/>
                        </a:rPr>
                        <a:t>Collision rate</a:t>
                      </a:r>
                    </a:p>
                  </a:txBody>
                  <a:tcPr marL="91440" marR="91440" marT="36576" marB="36576" anchor="ctr">
                    <a:lnL w="12700" cmpd="sng">
                      <a:solidFill>
                        <a:srgbClr val="232F48"/>
                      </a:solidFill>
                    </a:lnL>
                    <a:lnR w="12700" cmpd="sng">
                      <a:solidFill>
                        <a:srgbClr val="232F48"/>
                      </a:solidFill>
                    </a:lnR>
                    <a:lnT w="12700" cmpd="sng">
                      <a:solidFill>
                        <a:srgbClr val="232F48"/>
                      </a:solidFill>
                    </a:lnT>
                    <a:lnB w="12700" cmpd="sng">
                      <a:solidFill>
                        <a:srgbClr val="232F48"/>
                      </a:solidFill>
                    </a:lnB>
                    <a:solidFill>
                      <a:srgbClr val="151C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F1F5F9"/>
                          </a:solidFill>
                          <a:latin typeface="Calibri"/>
                        </a:rPr>
                        <a:t>перетин авто з іншими обʼєктами</a:t>
                      </a:r>
                    </a:p>
                  </a:txBody>
                  <a:tcPr marL="91440" marR="91440" marT="36576" marB="36576" anchor="ctr">
                    <a:lnL w="12700" cmpd="sng">
                      <a:solidFill>
                        <a:srgbClr val="232F48"/>
                      </a:solidFill>
                    </a:lnL>
                    <a:lnR w="12700" cmpd="sng">
                      <a:solidFill>
                        <a:srgbClr val="232F48"/>
                      </a:solidFill>
                    </a:lnR>
                    <a:lnT w="12700" cmpd="sng">
                      <a:solidFill>
                        <a:srgbClr val="232F48"/>
                      </a:solidFill>
                    </a:lnT>
                    <a:lnB w="12700" cmpd="sng">
                      <a:solidFill>
                        <a:srgbClr val="232F48"/>
                      </a:solidFill>
                    </a:lnB>
                    <a:solidFill>
                      <a:srgbClr val="15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F1F5F9"/>
                          </a:solidFill>
                          <a:latin typeface="Calibri"/>
                        </a:rPr>
                        <a:t>усі</a:t>
                      </a:r>
                    </a:p>
                  </a:txBody>
                  <a:tcPr marL="91440" marR="91440" marT="36576" marB="36576" anchor="ctr">
                    <a:lnL w="12700" cmpd="sng">
                      <a:solidFill>
                        <a:srgbClr val="232F48"/>
                      </a:solidFill>
                    </a:lnL>
                    <a:lnR w="12700" cmpd="sng">
                      <a:solidFill>
                        <a:srgbClr val="232F48"/>
                      </a:solidFill>
                    </a:lnR>
                    <a:lnT w="12700" cmpd="sng">
                      <a:solidFill>
                        <a:srgbClr val="232F48"/>
                      </a:solidFill>
                    </a:lnT>
                    <a:lnB w="12700" cmpd="sng">
                      <a:solidFill>
                        <a:srgbClr val="232F48"/>
                      </a:solidFill>
                    </a:lnB>
                    <a:solidFill>
                      <a:srgbClr val="151C2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F1F5F9"/>
                          </a:solidFill>
                          <a:latin typeface="Calibri"/>
                        </a:rPr>
                        <a:t>ADE / FDE / Miss</a:t>
                      </a:r>
                    </a:p>
                  </a:txBody>
                  <a:tcPr marL="91440" marR="91440" marT="36576" marB="36576" anchor="ctr">
                    <a:lnL w="12700" cmpd="sng">
                      <a:solidFill>
                        <a:srgbClr val="232F48"/>
                      </a:solidFill>
                    </a:lnL>
                    <a:lnR w="12700" cmpd="sng">
                      <a:solidFill>
                        <a:srgbClr val="232F48"/>
                      </a:solidFill>
                    </a:lnR>
                    <a:lnT w="12700" cmpd="sng">
                      <a:solidFill>
                        <a:srgbClr val="232F48"/>
                      </a:solidFill>
                    </a:lnT>
                    <a:lnB w="12700" cmpd="sng">
                      <a:solidFill>
                        <a:srgbClr val="232F48"/>
                      </a:solidFill>
                    </a:lnB>
                    <a:solidFill>
                      <a:srgbClr val="151C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F1F5F9"/>
                          </a:solidFill>
                          <a:latin typeface="Calibri"/>
                        </a:rPr>
                        <a:t>похибка прогнозу агентів, м; промахи &gt;2 м</a:t>
                      </a:r>
                    </a:p>
                  </a:txBody>
                  <a:tcPr marL="91440" marR="91440" marT="36576" marB="36576" anchor="ctr">
                    <a:lnL w="12700" cmpd="sng">
                      <a:solidFill>
                        <a:srgbClr val="232F48"/>
                      </a:solidFill>
                    </a:lnL>
                    <a:lnR w="12700" cmpd="sng">
                      <a:solidFill>
                        <a:srgbClr val="232F48"/>
                      </a:solidFill>
                    </a:lnR>
                    <a:lnT w="12700" cmpd="sng">
                      <a:solidFill>
                        <a:srgbClr val="232F48"/>
                      </a:solidFill>
                    </a:lnT>
                    <a:lnB w="12700" cmpd="sng">
                      <a:solidFill>
                        <a:srgbClr val="232F48"/>
                      </a:solidFill>
                    </a:lnB>
                    <a:solidFill>
                      <a:srgbClr val="15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F1F5F9"/>
                          </a:solidFill>
                          <a:latin typeface="Calibri"/>
                        </a:rPr>
                        <a:t>object-centric</a:t>
                      </a:r>
                    </a:p>
                  </a:txBody>
                  <a:tcPr marL="91440" marR="91440" marT="36576" marB="36576" anchor="ctr">
                    <a:lnL w="12700" cmpd="sng">
                      <a:solidFill>
                        <a:srgbClr val="232F48"/>
                      </a:solidFill>
                    </a:lnL>
                    <a:lnR w="12700" cmpd="sng">
                      <a:solidFill>
                        <a:srgbClr val="232F48"/>
                      </a:solidFill>
                    </a:lnR>
                    <a:lnT w="12700" cmpd="sng">
                      <a:solidFill>
                        <a:srgbClr val="232F48"/>
                      </a:solidFill>
                    </a:lnT>
                    <a:lnB w="12700" cmpd="sng">
                      <a:solidFill>
                        <a:srgbClr val="232F48"/>
                      </a:solidFill>
                    </a:lnB>
                    <a:solidFill>
                      <a:srgbClr val="151C2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F1F5F9"/>
                          </a:solidFill>
                          <a:latin typeface="Calibri"/>
                        </a:rPr>
                        <a:t>Chamfer distance</a:t>
                      </a:r>
                    </a:p>
                  </a:txBody>
                  <a:tcPr marL="91440" marR="91440" marT="36576" marB="36576" anchor="ctr">
                    <a:lnL w="12700" cmpd="sng">
                      <a:solidFill>
                        <a:srgbClr val="232F48"/>
                      </a:solidFill>
                    </a:lnL>
                    <a:lnR w="12700" cmpd="sng">
                      <a:solidFill>
                        <a:srgbClr val="232F48"/>
                      </a:solidFill>
                    </a:lnR>
                    <a:lnT w="12700" cmpd="sng">
                      <a:solidFill>
                        <a:srgbClr val="232F48"/>
                      </a:solidFill>
                    </a:lnT>
                    <a:lnB w="12700" cmpd="sng">
                      <a:solidFill>
                        <a:srgbClr val="232F48"/>
                      </a:solidFill>
                    </a:lnB>
                    <a:solidFill>
                      <a:srgbClr val="151C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F1F5F9"/>
                          </a:solidFill>
                          <a:latin typeface="Calibri"/>
                        </a:rPr>
                        <a:t>збіг хмар точок</a:t>
                      </a:r>
                    </a:p>
                  </a:txBody>
                  <a:tcPr marL="91440" marR="91440" marT="36576" marB="36576" anchor="ctr">
                    <a:lnL w="12700" cmpd="sng">
                      <a:solidFill>
                        <a:srgbClr val="232F48"/>
                      </a:solidFill>
                    </a:lnL>
                    <a:lnR w="12700" cmpd="sng">
                      <a:solidFill>
                        <a:srgbClr val="232F48"/>
                      </a:solidFill>
                    </a:lnR>
                    <a:lnT w="12700" cmpd="sng">
                      <a:solidFill>
                        <a:srgbClr val="232F48"/>
                      </a:solidFill>
                    </a:lnT>
                    <a:lnB w="12700" cmpd="sng">
                      <a:solidFill>
                        <a:srgbClr val="232F48"/>
                      </a:solidFill>
                    </a:lnB>
                    <a:solidFill>
                      <a:srgbClr val="15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F1F5F9"/>
                          </a:solidFill>
                          <a:latin typeface="Calibri"/>
                        </a:rPr>
                        <a:t>BEV, latent BEV</a:t>
                      </a:r>
                    </a:p>
                  </a:txBody>
                  <a:tcPr marL="91440" marR="91440" marT="36576" marB="36576" anchor="ctr">
                    <a:lnL w="12700" cmpd="sng">
                      <a:solidFill>
                        <a:srgbClr val="232F48"/>
                      </a:solidFill>
                    </a:lnL>
                    <a:lnR w="12700" cmpd="sng">
                      <a:solidFill>
                        <a:srgbClr val="232F48"/>
                      </a:solidFill>
                    </a:lnR>
                    <a:lnT w="12700" cmpd="sng">
                      <a:solidFill>
                        <a:srgbClr val="232F48"/>
                      </a:solidFill>
                    </a:lnT>
                    <a:lnB w="12700" cmpd="sng">
                      <a:solidFill>
                        <a:srgbClr val="232F48"/>
                      </a:solidFill>
                    </a:lnB>
                    <a:solidFill>
                      <a:srgbClr val="151C2E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863840" y="2011680"/>
            <a:ext cx="3776472" cy="2834640"/>
          </a:xfrm>
          <a:prstGeom prst="roundRect">
            <a:avLst>
              <a:gd name="adj" fmla="val 6000"/>
            </a:avLst>
          </a:prstGeom>
          <a:solidFill>
            <a:srgbClr val="151C2E"/>
          </a:solidFill>
          <a:ln w="12700">
            <a:solidFill>
              <a:srgbClr val="232F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92440" y="219456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38BDF8"/>
                </a:solidFill>
                <a:latin typeface="Calibri"/>
              </a:rPr>
              <a:t>Бейзлайни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2697480"/>
            <a:ext cx="338328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01168" indent="-201168">
              <a:spcAft>
                <a:spcPts val="1200"/>
              </a:spcAft>
              <a:buClr>
                <a:srgbClr val="38BDF8"/>
              </a:buClr>
              <a:buChar char="•"/>
            </a:pPr>
            <a:r>
              <a:rPr sz="1600" b="1" i="0">
                <a:solidFill>
                  <a:srgbClr val="F1F5F9"/>
                </a:solidFill>
                <a:latin typeface="Calibri"/>
              </a:rPr>
              <a:t>Zero-motion / Persistence: </a:t>
            </a:r>
            <a:r>
              <a:rPr sz="1600" b="0" i="0">
                <a:solidFill>
                  <a:srgbClr val="F1F5F9"/>
                </a:solidFill>
                <a:latin typeface="Calibri"/>
              </a:rPr>
              <a:t>сцена не змінюється</a:t>
            </a:r>
          </a:p>
          <a:p>
            <a:pPr algn="l" marL="201168" indent="-201168">
              <a:spcAft>
                <a:spcPts val="1200"/>
              </a:spcAft>
              <a:buClr>
                <a:srgbClr val="38BDF8"/>
              </a:buClr>
              <a:buChar char="•"/>
            </a:pPr>
            <a:r>
              <a:rPr sz="1600" b="1" i="0">
                <a:solidFill>
                  <a:srgbClr val="F1F5F9"/>
                </a:solidFill>
                <a:latin typeface="Calibri"/>
              </a:rPr>
              <a:t>Constant velocity (CV): </a:t>
            </a:r>
            <a:r>
              <a:rPr sz="1600" b="0" i="0">
                <a:solidFill>
                  <a:srgbClr val="F1F5F9"/>
                </a:solidFill>
                <a:latin typeface="Calibri"/>
              </a:rPr>
              <a:t>остання виміряна швидкість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074920"/>
            <a:ext cx="11091672" cy="1051560"/>
          </a:xfrm>
          <a:prstGeom prst="roundRect">
            <a:avLst>
              <a:gd name="adj" fmla="val 6000"/>
            </a:avLst>
          </a:prstGeom>
          <a:solidFill>
            <a:srgbClr val="0F2A24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19379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0B981"/>
                </a:solidFill>
                <a:latin typeface="Calibri"/>
              </a:rPr>
              <a:t>Що ми врахували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57784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F1F5F9"/>
                </a:solidFill>
                <a:latin typeface="Calibri"/>
              </a:rPr>
              <a:t>бейзлайни бачать лише минуле  ·  тест — на 2 сценах, яких модель не бачила  ·  однакові кадри й метрики для всіх представлень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65760"/>
            <a:ext cx="1655064" cy="27432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0B0F19"/>
                </a:solidFill>
                <a:latin typeface="Calibri"/>
              </a:rPr>
              <a:t>РЕЗУЛЬТАТИ · BEV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F1F5F9"/>
                </a:solidFill>
                <a:latin typeface="Calibri"/>
              </a:rPr>
              <a:t>BEV: на навчальних сценах точна, на нових — поки ні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94A3B8"/>
                </a:solidFill>
                <a:latin typeface="Calibri"/>
              </a:rPr>
              <a:t>L2 у метрах на mini_val: 67 кадрів 2 сцен, яких модель не бачила (менше — краще)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94A3B8"/>
                </a:solidFill>
                <a:latin typeface="Calibri"/>
              </a:rPr>
              <a:t>SkyNet · Бобас, Васильченко, Гомбош · AI course, УКУ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1512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94A3B8"/>
                </a:solidFill>
                <a:latin typeface="Calibri"/>
              </a:rPr>
              <a:t>4 / 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011680"/>
          <a:ext cx="5120640" cy="20116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94560"/>
                <a:gridCol w="731520"/>
                <a:gridCol w="731520"/>
                <a:gridCol w="731520"/>
                <a:gridCol w="73152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94A3B8"/>
                          </a:solidFill>
                          <a:latin typeface="Calibri"/>
                        </a:rPr>
                        <a:t>Метод</a:t>
                      </a:r>
                    </a:p>
                  </a:txBody>
                  <a:tcPr marL="91440" marR="91440" marT="36576" marB="36576" anchor="ctr">
                    <a:lnL w="12700" cmpd="sng">
                      <a:solidFill>
                        <a:srgbClr val="232F48"/>
                      </a:solidFill>
                    </a:lnL>
                    <a:lnR w="12700" cmpd="sng">
                      <a:solidFill>
                        <a:srgbClr val="232F48"/>
                      </a:solidFill>
                    </a:lnR>
                    <a:lnT w="12700" cmpd="sng">
                      <a:solidFill>
                        <a:srgbClr val="232F48"/>
                      </a:solidFill>
                    </a:lnT>
                    <a:lnB w="12700" cmpd="sng">
                      <a:solidFill>
                        <a:srgbClr val="232F48"/>
                      </a:solidFill>
                    </a:lnB>
                    <a:solidFill>
                      <a:srgbClr val="232F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94A3B8"/>
                          </a:solidFill>
                          <a:latin typeface="Calibri"/>
                        </a:rPr>
                        <a:t>1 с</a:t>
                      </a:r>
                    </a:p>
                  </a:txBody>
                  <a:tcPr marL="91440" marR="91440" marT="36576" marB="36576" anchor="ctr">
                    <a:lnL w="12700" cmpd="sng">
                      <a:solidFill>
                        <a:srgbClr val="232F48"/>
                      </a:solidFill>
                    </a:lnL>
                    <a:lnR w="12700" cmpd="sng">
                      <a:solidFill>
                        <a:srgbClr val="232F48"/>
                      </a:solidFill>
                    </a:lnR>
                    <a:lnT w="12700" cmpd="sng">
                      <a:solidFill>
                        <a:srgbClr val="232F48"/>
                      </a:solidFill>
                    </a:lnT>
                    <a:lnB w="12700" cmpd="sng">
                      <a:solidFill>
                        <a:srgbClr val="232F48"/>
                      </a:solidFill>
                    </a:lnB>
                    <a:solidFill>
                      <a:srgbClr val="232F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94A3B8"/>
                          </a:solidFill>
                          <a:latin typeface="Calibri"/>
                        </a:rPr>
                        <a:t>2 с</a:t>
                      </a:r>
                    </a:p>
                  </a:txBody>
                  <a:tcPr marL="91440" marR="91440" marT="36576" marB="36576" anchor="ctr">
                    <a:lnL w="12700" cmpd="sng">
                      <a:solidFill>
                        <a:srgbClr val="232F48"/>
                      </a:solidFill>
                    </a:lnL>
                    <a:lnR w="12700" cmpd="sng">
                      <a:solidFill>
                        <a:srgbClr val="232F48"/>
                      </a:solidFill>
                    </a:lnR>
                    <a:lnT w="12700" cmpd="sng">
                      <a:solidFill>
                        <a:srgbClr val="232F48"/>
                      </a:solidFill>
                    </a:lnT>
                    <a:lnB w="12700" cmpd="sng">
                      <a:solidFill>
                        <a:srgbClr val="232F48"/>
                      </a:solidFill>
                    </a:lnB>
                    <a:solidFill>
                      <a:srgbClr val="232F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94A3B8"/>
                          </a:solidFill>
                          <a:latin typeface="Calibri"/>
                        </a:rPr>
                        <a:t>3 с</a:t>
                      </a:r>
                    </a:p>
                  </a:txBody>
                  <a:tcPr marL="91440" marR="91440" marT="36576" marB="36576" anchor="ctr">
                    <a:lnL w="12700" cmpd="sng">
                      <a:solidFill>
                        <a:srgbClr val="232F48"/>
                      </a:solidFill>
                    </a:lnL>
                    <a:lnR w="12700" cmpd="sng">
                      <a:solidFill>
                        <a:srgbClr val="232F48"/>
                      </a:solidFill>
                    </a:lnR>
                    <a:lnT w="12700" cmpd="sng">
                      <a:solidFill>
                        <a:srgbClr val="232F48"/>
                      </a:solidFill>
                    </a:lnT>
                    <a:lnB w="12700" cmpd="sng">
                      <a:solidFill>
                        <a:srgbClr val="232F48"/>
                      </a:solidFill>
                    </a:lnB>
                    <a:solidFill>
                      <a:srgbClr val="232F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94A3B8"/>
                          </a:solidFill>
                          <a:latin typeface="Calibri"/>
                        </a:rPr>
                        <a:t>Сер.</a:t>
                      </a:r>
                    </a:p>
                  </a:txBody>
                  <a:tcPr marL="91440" marR="91440" marT="36576" marB="36576" anchor="ctr">
                    <a:lnL w="12700" cmpd="sng">
                      <a:solidFill>
                        <a:srgbClr val="232F48"/>
                      </a:solidFill>
                    </a:lnL>
                    <a:lnR w="12700" cmpd="sng">
                      <a:solidFill>
                        <a:srgbClr val="232F48"/>
                      </a:solidFill>
                    </a:lnR>
                    <a:lnT w="12700" cmpd="sng">
                      <a:solidFill>
                        <a:srgbClr val="232F48"/>
                      </a:solidFill>
                    </a:lnT>
                    <a:lnB w="12700" cmpd="sng">
                      <a:solidFill>
                        <a:srgbClr val="232F48"/>
                      </a:solidFill>
                    </a:lnB>
                    <a:solidFill>
                      <a:srgbClr val="232F4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F1F5F9"/>
                          </a:solidFill>
                          <a:latin typeface="Calibri"/>
                        </a:rPr>
                        <a:t>Zero-motion</a:t>
                      </a:r>
                    </a:p>
                  </a:txBody>
                  <a:tcPr marL="91440" marR="91440" marT="36576" marB="36576" anchor="ctr">
                    <a:lnL w="12700" cmpd="sng">
                      <a:solidFill>
                        <a:srgbClr val="232F48"/>
                      </a:solidFill>
                    </a:lnL>
                    <a:lnR w="12700" cmpd="sng">
                      <a:solidFill>
                        <a:srgbClr val="232F48"/>
                      </a:solidFill>
                    </a:lnR>
                    <a:lnT w="12700" cmpd="sng">
                      <a:solidFill>
                        <a:srgbClr val="232F48"/>
                      </a:solidFill>
                    </a:lnT>
                    <a:lnB w="12700" cmpd="sng">
                      <a:solidFill>
                        <a:srgbClr val="232F48"/>
                      </a:solidFill>
                    </a:lnB>
                    <a:solidFill>
                      <a:srgbClr val="15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F1F5F9"/>
                          </a:solidFill>
                          <a:latin typeface="Calibri"/>
                        </a:rPr>
                        <a:t>5.23</a:t>
                      </a:r>
                    </a:p>
                  </a:txBody>
                  <a:tcPr marL="91440" marR="91440" marT="36576" marB="36576" anchor="ctr">
                    <a:lnL w="12700" cmpd="sng">
                      <a:solidFill>
                        <a:srgbClr val="232F48"/>
                      </a:solidFill>
                    </a:lnL>
                    <a:lnR w="12700" cmpd="sng">
                      <a:solidFill>
                        <a:srgbClr val="232F48"/>
                      </a:solidFill>
                    </a:lnR>
                    <a:lnT w="12700" cmpd="sng">
                      <a:solidFill>
                        <a:srgbClr val="232F48"/>
                      </a:solidFill>
                    </a:lnT>
                    <a:lnB w="12700" cmpd="sng">
                      <a:solidFill>
                        <a:srgbClr val="232F48"/>
                      </a:solidFill>
                    </a:lnB>
                    <a:solidFill>
                      <a:srgbClr val="15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F1F5F9"/>
                          </a:solidFill>
                          <a:latin typeface="Calibri"/>
                        </a:rPr>
                        <a:t>10.43</a:t>
                      </a:r>
                    </a:p>
                  </a:txBody>
                  <a:tcPr marL="91440" marR="91440" marT="36576" marB="36576" anchor="ctr">
                    <a:lnL w="12700" cmpd="sng">
                      <a:solidFill>
                        <a:srgbClr val="232F48"/>
                      </a:solidFill>
                    </a:lnL>
                    <a:lnR w="12700" cmpd="sng">
                      <a:solidFill>
                        <a:srgbClr val="232F48"/>
                      </a:solidFill>
                    </a:lnR>
                    <a:lnT w="12700" cmpd="sng">
                      <a:solidFill>
                        <a:srgbClr val="232F48"/>
                      </a:solidFill>
                    </a:lnT>
                    <a:lnB w="12700" cmpd="sng">
                      <a:solidFill>
                        <a:srgbClr val="232F48"/>
                      </a:solidFill>
                    </a:lnB>
                    <a:solidFill>
                      <a:srgbClr val="15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F1F5F9"/>
                          </a:solidFill>
                          <a:latin typeface="Calibri"/>
                        </a:rPr>
                        <a:t>15.55</a:t>
                      </a:r>
                    </a:p>
                  </a:txBody>
                  <a:tcPr marL="91440" marR="91440" marT="36576" marB="36576" anchor="ctr">
                    <a:lnL w="12700" cmpd="sng">
                      <a:solidFill>
                        <a:srgbClr val="232F48"/>
                      </a:solidFill>
                    </a:lnL>
                    <a:lnR w="12700" cmpd="sng">
                      <a:solidFill>
                        <a:srgbClr val="232F48"/>
                      </a:solidFill>
                    </a:lnR>
                    <a:lnT w="12700" cmpd="sng">
                      <a:solidFill>
                        <a:srgbClr val="232F48"/>
                      </a:solidFill>
                    </a:lnT>
                    <a:lnB w="12700" cmpd="sng">
                      <a:solidFill>
                        <a:srgbClr val="232F48"/>
                      </a:solidFill>
                    </a:lnB>
                    <a:solidFill>
                      <a:srgbClr val="15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F1F5F9"/>
                          </a:solidFill>
                          <a:latin typeface="Calibri"/>
                        </a:rPr>
                        <a:t>10.40</a:t>
                      </a:r>
                    </a:p>
                  </a:txBody>
                  <a:tcPr marL="91440" marR="91440" marT="36576" marB="36576" anchor="ctr">
                    <a:lnL w="12700" cmpd="sng">
                      <a:solidFill>
                        <a:srgbClr val="232F48"/>
                      </a:solidFill>
                    </a:lnL>
                    <a:lnR w="12700" cmpd="sng">
                      <a:solidFill>
                        <a:srgbClr val="232F48"/>
                      </a:solidFill>
                    </a:lnR>
                    <a:lnT w="12700" cmpd="sng">
                      <a:solidFill>
                        <a:srgbClr val="232F48"/>
                      </a:solidFill>
                    </a:lnT>
                    <a:lnB w="12700" cmpd="sng">
                      <a:solidFill>
                        <a:srgbClr val="232F48"/>
                      </a:solidFill>
                    </a:lnB>
                    <a:solidFill>
                      <a:srgbClr val="151C2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1F5F9"/>
                          </a:solidFill>
                          <a:latin typeface="Calibri"/>
                        </a:rPr>
                        <a:t>Constant velocity</a:t>
                      </a:r>
                    </a:p>
                  </a:txBody>
                  <a:tcPr marL="91440" marR="91440" marT="36576" marB="36576" anchor="ctr">
                    <a:lnL w="12700" cmpd="sng">
                      <a:solidFill>
                        <a:srgbClr val="232F48"/>
                      </a:solidFill>
                    </a:lnL>
                    <a:lnR w="12700" cmpd="sng">
                      <a:solidFill>
                        <a:srgbClr val="232F48"/>
                      </a:solidFill>
                    </a:lnR>
                    <a:lnT w="12700" cmpd="sng">
                      <a:solidFill>
                        <a:srgbClr val="232F48"/>
                      </a:solidFill>
                    </a:lnT>
                    <a:lnB w="12700" cmpd="sng">
                      <a:solidFill>
                        <a:srgbClr val="232F48"/>
                      </a:solidFill>
                    </a:lnB>
                    <a:solidFill>
                      <a:srgbClr val="0F3A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1F5F9"/>
                          </a:solidFill>
                          <a:latin typeface="Calibri"/>
                        </a:rPr>
                        <a:t>0.69</a:t>
                      </a:r>
                    </a:p>
                  </a:txBody>
                  <a:tcPr marL="91440" marR="91440" marT="36576" marB="36576" anchor="ctr">
                    <a:lnL w="12700" cmpd="sng">
                      <a:solidFill>
                        <a:srgbClr val="232F48"/>
                      </a:solidFill>
                    </a:lnL>
                    <a:lnR w="12700" cmpd="sng">
                      <a:solidFill>
                        <a:srgbClr val="232F48"/>
                      </a:solidFill>
                    </a:lnR>
                    <a:lnT w="12700" cmpd="sng">
                      <a:solidFill>
                        <a:srgbClr val="232F48"/>
                      </a:solidFill>
                    </a:lnT>
                    <a:lnB w="12700" cmpd="sng">
                      <a:solidFill>
                        <a:srgbClr val="232F48"/>
                      </a:solidFill>
                    </a:lnB>
                    <a:solidFill>
                      <a:srgbClr val="0F3A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1F5F9"/>
                          </a:solidFill>
                          <a:latin typeface="Calibri"/>
                        </a:rPr>
                        <a:t>2.20</a:t>
                      </a:r>
                    </a:p>
                  </a:txBody>
                  <a:tcPr marL="91440" marR="91440" marT="36576" marB="36576" anchor="ctr">
                    <a:lnL w="12700" cmpd="sng">
                      <a:solidFill>
                        <a:srgbClr val="232F48"/>
                      </a:solidFill>
                    </a:lnL>
                    <a:lnR w="12700" cmpd="sng">
                      <a:solidFill>
                        <a:srgbClr val="232F48"/>
                      </a:solidFill>
                    </a:lnR>
                    <a:lnT w="12700" cmpd="sng">
                      <a:solidFill>
                        <a:srgbClr val="232F48"/>
                      </a:solidFill>
                    </a:lnT>
                    <a:lnB w="12700" cmpd="sng">
                      <a:solidFill>
                        <a:srgbClr val="232F48"/>
                      </a:solidFill>
                    </a:lnB>
                    <a:solidFill>
                      <a:srgbClr val="0F3A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1F5F9"/>
                          </a:solidFill>
                          <a:latin typeface="Calibri"/>
                        </a:rPr>
                        <a:t>4.46</a:t>
                      </a:r>
                    </a:p>
                  </a:txBody>
                  <a:tcPr marL="91440" marR="91440" marT="36576" marB="36576" anchor="ctr">
                    <a:lnL w="12700" cmpd="sng">
                      <a:solidFill>
                        <a:srgbClr val="232F48"/>
                      </a:solidFill>
                    </a:lnL>
                    <a:lnR w="12700" cmpd="sng">
                      <a:solidFill>
                        <a:srgbClr val="232F48"/>
                      </a:solidFill>
                    </a:lnR>
                    <a:lnT w="12700" cmpd="sng">
                      <a:solidFill>
                        <a:srgbClr val="232F48"/>
                      </a:solidFill>
                    </a:lnT>
                    <a:lnB w="12700" cmpd="sng">
                      <a:solidFill>
                        <a:srgbClr val="232F48"/>
                      </a:solidFill>
                    </a:lnB>
                    <a:solidFill>
                      <a:srgbClr val="0F3A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1F5F9"/>
                          </a:solidFill>
                          <a:latin typeface="Calibri"/>
                        </a:rPr>
                        <a:t>2.45</a:t>
                      </a:r>
                    </a:p>
                  </a:txBody>
                  <a:tcPr marL="91440" marR="91440" marT="36576" marB="36576" anchor="ctr">
                    <a:lnL w="12700" cmpd="sng">
                      <a:solidFill>
                        <a:srgbClr val="232F48"/>
                      </a:solidFill>
                    </a:lnL>
                    <a:lnR w="12700" cmpd="sng">
                      <a:solidFill>
                        <a:srgbClr val="232F48"/>
                      </a:solidFill>
                    </a:lnR>
                    <a:lnT w="12700" cmpd="sng">
                      <a:solidFill>
                        <a:srgbClr val="232F48"/>
                      </a:solidFill>
                    </a:lnT>
                    <a:lnB w="12700" cmpd="sng">
                      <a:solidFill>
                        <a:srgbClr val="232F48"/>
                      </a:solidFill>
                    </a:lnB>
                    <a:solidFill>
                      <a:srgbClr val="0F3A3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F1F5F9"/>
                          </a:solidFill>
                          <a:latin typeface="Calibri"/>
                        </a:rPr>
                        <a:t>BEVFusion + EgoPlanner</a:t>
                      </a:r>
                    </a:p>
                  </a:txBody>
                  <a:tcPr marL="91440" marR="91440" marT="36576" marB="36576" anchor="ctr">
                    <a:lnL w="12700" cmpd="sng">
                      <a:solidFill>
                        <a:srgbClr val="232F48"/>
                      </a:solidFill>
                    </a:lnL>
                    <a:lnR w="12700" cmpd="sng">
                      <a:solidFill>
                        <a:srgbClr val="232F48"/>
                      </a:solidFill>
                    </a:lnR>
                    <a:lnT w="12700" cmpd="sng">
                      <a:solidFill>
                        <a:srgbClr val="232F48"/>
                      </a:solidFill>
                    </a:lnT>
                    <a:lnB w="12700" cmpd="sng">
                      <a:solidFill>
                        <a:srgbClr val="232F48"/>
                      </a:solidFill>
                    </a:lnB>
                    <a:solidFill>
                      <a:srgbClr val="15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F1F5F9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91440" marR="91440" marT="36576" marB="36576" anchor="ctr">
                    <a:lnL w="12700" cmpd="sng">
                      <a:solidFill>
                        <a:srgbClr val="232F48"/>
                      </a:solidFill>
                    </a:lnL>
                    <a:lnR w="12700" cmpd="sng">
                      <a:solidFill>
                        <a:srgbClr val="232F48"/>
                      </a:solidFill>
                    </a:lnR>
                    <a:lnT w="12700" cmpd="sng">
                      <a:solidFill>
                        <a:srgbClr val="232F48"/>
                      </a:solidFill>
                    </a:lnT>
                    <a:lnB w="12700" cmpd="sng">
                      <a:solidFill>
                        <a:srgbClr val="232F48"/>
                      </a:solidFill>
                    </a:lnB>
                    <a:solidFill>
                      <a:srgbClr val="15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F1F5F9"/>
                          </a:solidFill>
                          <a:latin typeface="Calibri"/>
                        </a:rPr>
                        <a:t>2.56</a:t>
                      </a:r>
                    </a:p>
                  </a:txBody>
                  <a:tcPr marL="91440" marR="91440" marT="36576" marB="36576" anchor="ctr">
                    <a:lnL w="12700" cmpd="sng">
                      <a:solidFill>
                        <a:srgbClr val="232F48"/>
                      </a:solidFill>
                    </a:lnL>
                    <a:lnR w="12700" cmpd="sng">
                      <a:solidFill>
                        <a:srgbClr val="232F48"/>
                      </a:solidFill>
                    </a:lnR>
                    <a:lnT w="12700" cmpd="sng">
                      <a:solidFill>
                        <a:srgbClr val="232F48"/>
                      </a:solidFill>
                    </a:lnT>
                    <a:lnB w="12700" cmpd="sng">
                      <a:solidFill>
                        <a:srgbClr val="232F48"/>
                      </a:solidFill>
                    </a:lnB>
                    <a:solidFill>
                      <a:srgbClr val="15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F1F5F9"/>
                          </a:solidFill>
                          <a:latin typeface="Calibri"/>
                        </a:rPr>
                        <a:t>5.06</a:t>
                      </a:r>
                    </a:p>
                  </a:txBody>
                  <a:tcPr marL="91440" marR="91440" marT="36576" marB="36576" anchor="ctr">
                    <a:lnL w="12700" cmpd="sng">
                      <a:solidFill>
                        <a:srgbClr val="232F48"/>
                      </a:solidFill>
                    </a:lnL>
                    <a:lnR w="12700" cmpd="sng">
                      <a:solidFill>
                        <a:srgbClr val="232F48"/>
                      </a:solidFill>
                    </a:lnR>
                    <a:lnT w="12700" cmpd="sng">
                      <a:solidFill>
                        <a:srgbClr val="232F48"/>
                      </a:solidFill>
                    </a:lnT>
                    <a:lnB w="12700" cmpd="sng">
                      <a:solidFill>
                        <a:srgbClr val="232F48"/>
                      </a:solidFill>
                    </a:lnB>
                    <a:solidFill>
                      <a:srgbClr val="15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F1F5F9"/>
                          </a:solidFill>
                          <a:latin typeface="Calibri"/>
                        </a:rPr>
                        <a:t>2.81</a:t>
                      </a:r>
                    </a:p>
                  </a:txBody>
                  <a:tcPr marL="91440" marR="91440" marT="36576" marB="36576" anchor="ctr">
                    <a:lnL w="12700" cmpd="sng">
                      <a:solidFill>
                        <a:srgbClr val="232F48"/>
                      </a:solidFill>
                    </a:lnL>
                    <a:lnR w="12700" cmpd="sng">
                      <a:solidFill>
                        <a:srgbClr val="232F48"/>
                      </a:solidFill>
                    </a:lnR>
                    <a:lnT w="12700" cmpd="sng">
                      <a:solidFill>
                        <a:srgbClr val="232F48"/>
                      </a:solidFill>
                    </a:lnT>
                    <a:lnB w="12700" cmpd="sng">
                      <a:solidFill>
                        <a:srgbClr val="232F48"/>
                      </a:solidFill>
                    </a:lnB>
                    <a:solidFill>
                      <a:srgbClr val="151C2E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4206240"/>
            <a:ext cx="5120640" cy="1920240"/>
          </a:xfrm>
          <a:prstGeom prst="roundRect">
            <a:avLst>
              <a:gd name="adj" fmla="val 6000"/>
            </a:avLst>
          </a:prstGeom>
          <a:solidFill>
            <a:srgbClr val="151C2E"/>
          </a:solidFill>
          <a:ln w="12700">
            <a:solidFill>
              <a:srgbClr val="232F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F59E0B"/>
                </a:solidFill>
                <a:latin typeface="Calibri"/>
              </a:rPr>
              <a:t>Що ми бачимо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754880"/>
            <a:ext cx="466344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01168" indent="-201168">
              <a:spcAft>
                <a:spcPts val="500"/>
              </a:spcAft>
              <a:buClr>
                <a:srgbClr val="38BDF8"/>
              </a:buClr>
              <a:buChar char="•"/>
            </a:pPr>
            <a:r>
              <a:rPr sz="1500" b="0" i="0">
                <a:solidFill>
                  <a:srgbClr val="F1F5F9"/>
                </a:solidFill>
                <a:latin typeface="Calibri"/>
              </a:rPr>
              <a:t>Train: ~0.1 м — у кілька разів точніше за CV</a:t>
            </a:r>
          </a:p>
          <a:p>
            <a:pPr algn="l" marL="201168" indent="-201168">
              <a:spcAft>
                <a:spcPts val="500"/>
              </a:spcAft>
              <a:buClr>
                <a:srgbClr val="38BDF8"/>
              </a:buClr>
              <a:buChar char="•"/>
            </a:pPr>
            <a:r>
              <a:rPr sz="1500" b="0" i="0">
                <a:solidFill>
                  <a:srgbClr val="F1F5F9"/>
                </a:solidFill>
                <a:latin typeface="Calibri"/>
              </a:rPr>
              <a:t>Val: 2.81 м проти 2.45 м у CV</a:t>
            </a:r>
          </a:p>
          <a:p>
            <a:pPr algn="l" marL="201168" indent="-201168">
              <a:spcAft>
                <a:spcPts val="500"/>
              </a:spcAft>
              <a:buClr>
                <a:srgbClr val="38BDF8"/>
              </a:buClr>
              <a:buChar char="•"/>
            </a:pPr>
            <a:r>
              <a:rPr sz="1500" b="0" i="0">
                <a:solidFill>
                  <a:srgbClr val="F1F5F9"/>
                </a:solidFill>
                <a:latin typeface="Calibri"/>
              </a:rPr>
              <a:t>Перенавчання: мало даних, енкодер ще не навчений</a:t>
            </a:r>
          </a:p>
        </p:txBody>
      </p:sp>
      <p:pic>
        <p:nvPicPr>
          <p:cNvPr id="11" name="Picture 10" descr="progress_bev_drive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2011680"/>
            <a:ext cx="5696712" cy="320648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43600" y="5327890"/>
            <a:ext cx="56967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94A3B8"/>
                </a:solidFill>
                <a:latin typeface="Calibri"/>
              </a:rPr>
              <a:t>Тестова сцена: жовте — водій, зелене — прогноз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65760"/>
            <a:ext cx="2510028" cy="27432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0B0F19"/>
                </a:solidFill>
                <a:latin typeface="Calibri"/>
              </a:rPr>
              <a:t>РЕЗУЛЬТАТИ · OBJECT-CENTRIC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F1F5F9"/>
                </a:solidFill>
                <a:latin typeface="Calibri"/>
              </a:rPr>
              <a:t>Object-centric: Constant Velocity — сильний бейзлайн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94A3B8"/>
                </a:solidFill>
                <a:latin typeface="Calibri"/>
              </a:rPr>
              <a:t>Усі 10 сцен mini, 16 295 прогнозів (обʼєкт × момент часу), похибка в метрах (чим менше — тим краще)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94A3B8"/>
                </a:solidFill>
                <a:latin typeface="Calibri"/>
              </a:rPr>
              <a:t>SkyNet · Бобас, Васильченко, Гомбош · AI course, УКУ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1512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94A3B8"/>
                </a:solidFill>
                <a:latin typeface="Calibri"/>
              </a:rPr>
              <a:t>5 / 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5943600" cy="868680"/>
          </a:xfrm>
          <a:prstGeom prst="roundRect">
            <a:avLst>
              <a:gd name="adj" fmla="val 6000"/>
            </a:avLst>
          </a:prstGeom>
          <a:solidFill>
            <a:srgbClr val="151C2E"/>
          </a:solidFill>
          <a:ln w="12700">
            <a:solidFill>
              <a:srgbClr val="232F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01952"/>
            <a:ext cx="5486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94A3B8"/>
                </a:solidFill>
                <a:latin typeface="Calibri"/>
              </a:rPr>
              <a:t>Тензор сцени: </a:t>
            </a:r>
            <a:r>
              <a:rPr sz="1500" b="0" i="0">
                <a:solidFill>
                  <a:srgbClr val="F1F5F9"/>
                </a:solidFill>
                <a:latin typeface="Calibri"/>
              </a:rPr>
              <a:t>[кадри, обʼєкти, 11 ознак], напр. [39, 227, 11]</a:t>
            </a:r>
          </a:p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94A3B8"/>
                </a:solidFill>
                <a:latin typeface="Calibri"/>
              </a:rPr>
              <a:t>Перевірка: </a:t>
            </a:r>
            <a:r>
              <a:rPr sz="1500" b="0" i="0">
                <a:solidFill>
                  <a:srgbClr val="F1F5F9"/>
                </a:solidFill>
                <a:latin typeface="Calibri"/>
              </a:rPr>
              <a:t>усі 18 538 анотацій потрапили в тензор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61488"/>
            <a:ext cx="5943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F1F5F9"/>
                </a:solidFill>
                <a:latin typeface="Calibri"/>
              </a:rPr>
              <a:t>Бейзлайни в object-centric представленні </a:t>
            </a:r>
            <a:r>
              <a:rPr sz="1400" b="0" i="0">
                <a:solidFill>
                  <a:srgbClr val="94A3B8"/>
                </a:solidFill>
                <a:latin typeface="Calibri"/>
              </a:rPr>
              <a:t>(навчена модель — наш плановий наступний етап)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3364992"/>
          <a:ext cx="5943600" cy="16459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920240"/>
                <a:gridCol w="1005840"/>
                <a:gridCol w="1005840"/>
                <a:gridCol w="1005840"/>
                <a:gridCol w="100584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94A3B8"/>
                          </a:solidFill>
                          <a:latin typeface="Calibri"/>
                        </a:rPr>
                        <a:t>Бейзлайн</a:t>
                      </a:r>
                    </a:p>
                  </a:txBody>
                  <a:tcPr marL="91440" marR="91440" marT="36576" marB="36576" anchor="ctr">
                    <a:lnL w="12700" cmpd="sng">
                      <a:solidFill>
                        <a:srgbClr val="232F48"/>
                      </a:solidFill>
                    </a:lnL>
                    <a:lnR w="12700" cmpd="sng">
                      <a:solidFill>
                        <a:srgbClr val="232F48"/>
                      </a:solidFill>
                    </a:lnR>
                    <a:lnT w="12700" cmpd="sng">
                      <a:solidFill>
                        <a:srgbClr val="232F48"/>
                      </a:solidFill>
                    </a:lnT>
                    <a:lnB w="12700" cmpd="sng">
                      <a:solidFill>
                        <a:srgbClr val="232F48"/>
                      </a:solidFill>
                    </a:lnB>
                    <a:solidFill>
                      <a:srgbClr val="232F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94A3B8"/>
                          </a:solidFill>
                          <a:latin typeface="Calibri"/>
                        </a:rPr>
                        <a:t>ADE 1 с</a:t>
                      </a:r>
                    </a:p>
                  </a:txBody>
                  <a:tcPr marL="91440" marR="91440" marT="36576" marB="36576" anchor="ctr">
                    <a:lnL w="12700" cmpd="sng">
                      <a:solidFill>
                        <a:srgbClr val="232F48"/>
                      </a:solidFill>
                    </a:lnL>
                    <a:lnR w="12700" cmpd="sng">
                      <a:solidFill>
                        <a:srgbClr val="232F48"/>
                      </a:solidFill>
                    </a:lnR>
                    <a:lnT w="12700" cmpd="sng">
                      <a:solidFill>
                        <a:srgbClr val="232F48"/>
                      </a:solidFill>
                    </a:lnT>
                    <a:lnB w="12700" cmpd="sng">
                      <a:solidFill>
                        <a:srgbClr val="232F48"/>
                      </a:solidFill>
                    </a:lnB>
                    <a:solidFill>
                      <a:srgbClr val="232F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94A3B8"/>
                          </a:solidFill>
                          <a:latin typeface="Calibri"/>
                        </a:rPr>
                        <a:t>ADE 3 с</a:t>
                      </a:r>
                    </a:p>
                  </a:txBody>
                  <a:tcPr marL="91440" marR="91440" marT="36576" marB="36576" anchor="ctr">
                    <a:lnL w="12700" cmpd="sng">
                      <a:solidFill>
                        <a:srgbClr val="232F48"/>
                      </a:solidFill>
                    </a:lnL>
                    <a:lnR w="12700" cmpd="sng">
                      <a:solidFill>
                        <a:srgbClr val="232F48"/>
                      </a:solidFill>
                    </a:lnR>
                    <a:lnT w="12700" cmpd="sng">
                      <a:solidFill>
                        <a:srgbClr val="232F48"/>
                      </a:solidFill>
                    </a:lnT>
                    <a:lnB w="12700" cmpd="sng">
                      <a:solidFill>
                        <a:srgbClr val="232F48"/>
                      </a:solidFill>
                    </a:lnB>
                    <a:solidFill>
                      <a:srgbClr val="232F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94A3B8"/>
                          </a:solidFill>
                          <a:latin typeface="Calibri"/>
                        </a:rPr>
                        <a:t>FDE 3 с</a:t>
                      </a:r>
                    </a:p>
                  </a:txBody>
                  <a:tcPr marL="91440" marR="91440" marT="36576" marB="36576" anchor="ctr">
                    <a:lnL w="12700" cmpd="sng">
                      <a:solidFill>
                        <a:srgbClr val="232F48"/>
                      </a:solidFill>
                    </a:lnL>
                    <a:lnR w="12700" cmpd="sng">
                      <a:solidFill>
                        <a:srgbClr val="232F48"/>
                      </a:solidFill>
                    </a:lnR>
                    <a:lnT w="12700" cmpd="sng">
                      <a:solidFill>
                        <a:srgbClr val="232F48"/>
                      </a:solidFill>
                    </a:lnT>
                    <a:lnB w="12700" cmpd="sng">
                      <a:solidFill>
                        <a:srgbClr val="232F48"/>
                      </a:solidFill>
                    </a:lnB>
                    <a:solidFill>
                      <a:srgbClr val="232F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94A3B8"/>
                          </a:solidFill>
                          <a:latin typeface="Calibri"/>
                        </a:rPr>
                        <a:t>Miss 3 с</a:t>
                      </a:r>
                    </a:p>
                  </a:txBody>
                  <a:tcPr marL="91440" marR="91440" marT="36576" marB="36576" anchor="ctr">
                    <a:lnL w="12700" cmpd="sng">
                      <a:solidFill>
                        <a:srgbClr val="232F48"/>
                      </a:solidFill>
                    </a:lnL>
                    <a:lnR w="12700" cmpd="sng">
                      <a:solidFill>
                        <a:srgbClr val="232F48"/>
                      </a:solidFill>
                    </a:lnR>
                    <a:lnT w="12700" cmpd="sng">
                      <a:solidFill>
                        <a:srgbClr val="232F48"/>
                      </a:solidFill>
                    </a:lnT>
                    <a:lnB w="12700" cmpd="sng">
                      <a:solidFill>
                        <a:srgbClr val="232F48"/>
                      </a:solidFill>
                    </a:lnB>
                    <a:solidFill>
                      <a:srgbClr val="232F4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F1F5F9"/>
                          </a:solidFill>
                          <a:latin typeface="Calibri"/>
                        </a:rPr>
                        <a:t>Persistence</a:t>
                      </a:r>
                    </a:p>
                  </a:txBody>
                  <a:tcPr marL="91440" marR="91440" marT="36576" marB="36576" anchor="ctr">
                    <a:lnL w="12700" cmpd="sng">
                      <a:solidFill>
                        <a:srgbClr val="232F48"/>
                      </a:solidFill>
                    </a:lnL>
                    <a:lnR w="12700" cmpd="sng">
                      <a:solidFill>
                        <a:srgbClr val="232F48"/>
                      </a:solidFill>
                    </a:lnR>
                    <a:lnT w="12700" cmpd="sng">
                      <a:solidFill>
                        <a:srgbClr val="232F48"/>
                      </a:solidFill>
                    </a:lnT>
                    <a:lnB w="12700" cmpd="sng">
                      <a:solidFill>
                        <a:srgbClr val="232F48"/>
                      </a:solidFill>
                    </a:lnB>
                    <a:solidFill>
                      <a:srgbClr val="15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F1F5F9"/>
                          </a:solidFill>
                          <a:latin typeface="Calibri"/>
                        </a:rPr>
                        <a:t>1.07</a:t>
                      </a:r>
                    </a:p>
                  </a:txBody>
                  <a:tcPr marL="91440" marR="91440" marT="36576" marB="36576" anchor="ctr">
                    <a:lnL w="12700" cmpd="sng">
                      <a:solidFill>
                        <a:srgbClr val="232F48"/>
                      </a:solidFill>
                    </a:lnL>
                    <a:lnR w="12700" cmpd="sng">
                      <a:solidFill>
                        <a:srgbClr val="232F48"/>
                      </a:solidFill>
                    </a:lnR>
                    <a:lnT w="12700" cmpd="sng">
                      <a:solidFill>
                        <a:srgbClr val="232F48"/>
                      </a:solidFill>
                    </a:lnT>
                    <a:lnB w="12700" cmpd="sng">
                      <a:solidFill>
                        <a:srgbClr val="232F48"/>
                      </a:solidFill>
                    </a:lnB>
                    <a:solidFill>
                      <a:srgbClr val="15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F1F5F9"/>
                          </a:solidFill>
                          <a:latin typeface="Calibri"/>
                        </a:rPr>
                        <a:t>2.33</a:t>
                      </a:r>
                    </a:p>
                  </a:txBody>
                  <a:tcPr marL="91440" marR="91440" marT="36576" marB="36576" anchor="ctr">
                    <a:lnL w="12700" cmpd="sng">
                      <a:solidFill>
                        <a:srgbClr val="232F48"/>
                      </a:solidFill>
                    </a:lnL>
                    <a:lnR w="12700" cmpd="sng">
                      <a:solidFill>
                        <a:srgbClr val="232F48"/>
                      </a:solidFill>
                    </a:lnR>
                    <a:lnT w="12700" cmpd="sng">
                      <a:solidFill>
                        <a:srgbClr val="232F48"/>
                      </a:solidFill>
                    </a:lnT>
                    <a:lnB w="12700" cmpd="sng">
                      <a:solidFill>
                        <a:srgbClr val="232F48"/>
                      </a:solidFill>
                    </a:lnB>
                    <a:solidFill>
                      <a:srgbClr val="15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F1F5F9"/>
                          </a:solidFill>
                          <a:latin typeface="Calibri"/>
                        </a:rPr>
                        <a:t>3.97</a:t>
                      </a:r>
                    </a:p>
                  </a:txBody>
                  <a:tcPr marL="91440" marR="91440" marT="36576" marB="36576" anchor="ctr">
                    <a:lnL w="12700" cmpd="sng">
                      <a:solidFill>
                        <a:srgbClr val="232F48"/>
                      </a:solidFill>
                    </a:lnL>
                    <a:lnR w="12700" cmpd="sng">
                      <a:solidFill>
                        <a:srgbClr val="232F48"/>
                      </a:solidFill>
                    </a:lnR>
                    <a:lnT w="12700" cmpd="sng">
                      <a:solidFill>
                        <a:srgbClr val="232F48"/>
                      </a:solidFill>
                    </a:lnT>
                    <a:lnB w="12700" cmpd="sng">
                      <a:solidFill>
                        <a:srgbClr val="232F48"/>
                      </a:solidFill>
                    </a:lnB>
                    <a:solidFill>
                      <a:srgbClr val="15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F1F5F9"/>
                          </a:solidFill>
                          <a:latin typeface="Calibri"/>
                        </a:rPr>
                        <a:t>33.2%</a:t>
                      </a:r>
                    </a:p>
                  </a:txBody>
                  <a:tcPr marL="91440" marR="91440" marT="36576" marB="36576" anchor="ctr">
                    <a:lnL w="12700" cmpd="sng">
                      <a:solidFill>
                        <a:srgbClr val="232F48"/>
                      </a:solidFill>
                    </a:lnL>
                    <a:lnR w="12700" cmpd="sng">
                      <a:solidFill>
                        <a:srgbClr val="232F48"/>
                      </a:solidFill>
                    </a:lnR>
                    <a:lnT w="12700" cmpd="sng">
                      <a:solidFill>
                        <a:srgbClr val="232F48"/>
                      </a:solidFill>
                    </a:lnT>
                    <a:lnB w="12700" cmpd="sng">
                      <a:solidFill>
                        <a:srgbClr val="232F48"/>
                      </a:solidFill>
                    </a:lnB>
                    <a:solidFill>
                      <a:srgbClr val="151C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F1F5F9"/>
                          </a:solidFill>
                          <a:latin typeface="Calibri"/>
                        </a:rPr>
                        <a:t>Constant velocity</a:t>
                      </a:r>
                    </a:p>
                  </a:txBody>
                  <a:tcPr marL="91440" marR="91440" marT="36576" marB="36576" anchor="ctr">
                    <a:lnL w="12700" cmpd="sng">
                      <a:solidFill>
                        <a:srgbClr val="232F48"/>
                      </a:solidFill>
                    </a:lnL>
                    <a:lnR w="12700" cmpd="sng">
                      <a:solidFill>
                        <a:srgbClr val="232F48"/>
                      </a:solidFill>
                    </a:lnR>
                    <a:lnT w="12700" cmpd="sng">
                      <a:solidFill>
                        <a:srgbClr val="232F48"/>
                      </a:solidFill>
                    </a:lnT>
                    <a:lnB w="12700" cmpd="sng">
                      <a:solidFill>
                        <a:srgbClr val="232F48"/>
                      </a:solidFill>
                    </a:lnB>
                    <a:solidFill>
                      <a:srgbClr val="0F3A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1F5F9"/>
                          </a:solidFill>
                          <a:latin typeface="Calibri"/>
                        </a:rPr>
                        <a:t>0.18</a:t>
                      </a:r>
                    </a:p>
                  </a:txBody>
                  <a:tcPr marL="91440" marR="91440" marT="36576" marB="36576" anchor="ctr">
                    <a:lnL w="12700" cmpd="sng">
                      <a:solidFill>
                        <a:srgbClr val="232F48"/>
                      </a:solidFill>
                    </a:lnL>
                    <a:lnR w="12700" cmpd="sng">
                      <a:solidFill>
                        <a:srgbClr val="232F48"/>
                      </a:solidFill>
                    </a:lnR>
                    <a:lnT w="12700" cmpd="sng">
                      <a:solidFill>
                        <a:srgbClr val="232F48"/>
                      </a:solidFill>
                    </a:lnT>
                    <a:lnB w="12700" cmpd="sng">
                      <a:solidFill>
                        <a:srgbClr val="232F48"/>
                      </a:solidFill>
                    </a:lnB>
                    <a:solidFill>
                      <a:srgbClr val="0F3A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1F5F9"/>
                          </a:solidFill>
                          <a:latin typeface="Calibri"/>
                        </a:rPr>
                        <a:t>0.50</a:t>
                      </a:r>
                    </a:p>
                  </a:txBody>
                  <a:tcPr marL="91440" marR="91440" marT="36576" marB="36576" anchor="ctr">
                    <a:lnL w="12700" cmpd="sng">
                      <a:solidFill>
                        <a:srgbClr val="232F48"/>
                      </a:solidFill>
                    </a:lnL>
                    <a:lnR w="12700" cmpd="sng">
                      <a:solidFill>
                        <a:srgbClr val="232F48"/>
                      </a:solidFill>
                    </a:lnR>
                    <a:lnT w="12700" cmpd="sng">
                      <a:solidFill>
                        <a:srgbClr val="232F48"/>
                      </a:solidFill>
                    </a:lnT>
                    <a:lnB w="12700" cmpd="sng">
                      <a:solidFill>
                        <a:srgbClr val="232F48"/>
                      </a:solidFill>
                    </a:lnB>
                    <a:solidFill>
                      <a:srgbClr val="0F3A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1F5F9"/>
                          </a:solidFill>
                          <a:latin typeface="Calibri"/>
                        </a:rPr>
                        <a:t>0.98</a:t>
                      </a:r>
                    </a:p>
                  </a:txBody>
                  <a:tcPr marL="91440" marR="91440" marT="36576" marB="36576" anchor="ctr">
                    <a:lnL w="12700" cmpd="sng">
                      <a:solidFill>
                        <a:srgbClr val="232F48"/>
                      </a:solidFill>
                    </a:lnL>
                    <a:lnR w="12700" cmpd="sng">
                      <a:solidFill>
                        <a:srgbClr val="232F48"/>
                      </a:solidFill>
                    </a:lnR>
                    <a:lnT w="12700" cmpd="sng">
                      <a:solidFill>
                        <a:srgbClr val="232F48"/>
                      </a:solidFill>
                    </a:lnT>
                    <a:lnB w="12700" cmpd="sng">
                      <a:solidFill>
                        <a:srgbClr val="232F48"/>
                      </a:solidFill>
                    </a:lnB>
                    <a:solidFill>
                      <a:srgbClr val="0F3A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1F5F9"/>
                          </a:solidFill>
                          <a:latin typeface="Calibri"/>
                        </a:rPr>
                        <a:t>10.7%</a:t>
                      </a:r>
                    </a:p>
                  </a:txBody>
                  <a:tcPr marL="91440" marR="91440" marT="36576" marB="36576" anchor="ctr">
                    <a:lnL w="12700" cmpd="sng">
                      <a:solidFill>
                        <a:srgbClr val="232F48"/>
                      </a:solidFill>
                    </a:lnL>
                    <a:lnR w="12700" cmpd="sng">
                      <a:solidFill>
                        <a:srgbClr val="232F48"/>
                      </a:solidFill>
                    </a:lnR>
                    <a:lnT w="12700" cmpd="sng">
                      <a:solidFill>
                        <a:srgbClr val="232F48"/>
                      </a:solidFill>
                    </a:lnT>
                    <a:lnB w="12700" cmpd="sng">
                      <a:solidFill>
                        <a:srgbClr val="232F48"/>
                      </a:solidFill>
                    </a:lnB>
                    <a:solidFill>
                      <a:srgbClr val="0F3A3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5166360"/>
            <a:ext cx="5943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0B981"/>
                </a:solidFill>
                <a:latin typeface="Calibri"/>
              </a:rPr>
              <a:t>Висновок: </a:t>
            </a:r>
            <a:r>
              <a:rPr sz="1600" b="0" i="0">
                <a:solidFill>
                  <a:srgbClr val="F1F5F9"/>
                </a:solidFill>
                <a:latin typeface="Calibri"/>
              </a:rPr>
              <a:t>Constant velocity: у середньому 0.98 м похибки через 3 с, у 4 рази точніше за persistence; помиляється на поворотах і гальмуванні. Це планка для нашої object-centric моделі.</a:t>
            </a:r>
          </a:p>
        </p:txBody>
      </p:sp>
      <p:pic>
        <p:nvPicPr>
          <p:cNvPr id="12" name="Picture 11" descr="progress_object_forecas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2011680"/>
            <a:ext cx="4455929" cy="3886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903720" y="594360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94A3B8"/>
                </a:solidFill>
                <a:latin typeface="Calibri"/>
              </a:rPr>
              <a:t>Пунктир — прогноз constant velocity, жовте — реальний рух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65760"/>
            <a:ext cx="955548" cy="27432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0B0F19"/>
                </a:solidFill>
                <a:latin typeface="Calibri"/>
              </a:rPr>
              <a:t>ПРОГРЕС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F1F5F9"/>
                </a:solidFill>
                <a:latin typeface="Calibri"/>
              </a:rPr>
              <a:t>Що виконано з пропоузалу і хто що робив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94A3B8"/>
                </a:solidFill>
                <a:latin typeface="Calibri"/>
              </a:rPr>
              <a:t>Два з трьох представлень уже дають результати; третє — наступний етап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94A3B8"/>
                </a:solidFill>
                <a:latin typeface="Calibri"/>
              </a:rPr>
              <a:t>SkyNet · Бобас, Васильченко, Гомбош · AI course, УКУ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1512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94A3B8"/>
                </a:solidFill>
                <a:latin typeface="Calibri"/>
              </a:rPr>
              <a:t>6 / 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11680"/>
            <a:ext cx="6400800" cy="4114800"/>
          </a:xfrm>
          <a:prstGeom prst="roundRect">
            <a:avLst>
              <a:gd name="adj" fmla="val 6000"/>
            </a:avLst>
          </a:prstGeom>
          <a:solidFill>
            <a:srgbClr val="151C2E"/>
          </a:solidFill>
          <a:ln w="12700">
            <a:solidFill>
              <a:srgbClr val="232F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228600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0B0F19"/>
                </a:solidFill>
                <a:latin typeface="Calibri"/>
              </a:rPr>
              <a:t>ГОТОВО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2194560"/>
            <a:ext cx="4526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F1F5F9"/>
                </a:solidFill>
                <a:latin typeface="Calibri"/>
              </a:rPr>
              <a:t>Дані nuScenes: keyframes, офіційні спліти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83464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0B0F19"/>
                </a:solidFill>
                <a:latin typeface="Calibri"/>
              </a:rPr>
              <a:t>ГОТОВО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2743200"/>
            <a:ext cx="4526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F1F5F9"/>
                </a:solidFill>
                <a:latin typeface="Calibri"/>
              </a:rPr>
              <a:t>Спільні метрики (L2, collision, Chamfer, FID, ADE/FDE) + тести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383279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0B0F19"/>
                </a:solidFill>
                <a:latin typeface="Calibri"/>
              </a:rPr>
              <a:t>ГОТОВО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3291839"/>
            <a:ext cx="4526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F1F5F9"/>
                </a:solidFill>
                <a:latin typeface="Calibri"/>
              </a:rPr>
              <a:t>Бейзлайни: zero-motion, persistence, constant velocity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931919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0B0F19"/>
                </a:solidFill>
                <a:latin typeface="Calibri"/>
              </a:rPr>
              <a:t>ГОТОВО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3840479"/>
            <a:ext cx="4526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F1F5F9"/>
                </a:solidFill>
                <a:latin typeface="Calibri"/>
              </a:rPr>
              <a:t>Object-centric представлення: без втрат, 10 сцен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480559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0B0F19"/>
                </a:solidFill>
                <a:latin typeface="Calibri"/>
              </a:rPr>
              <a:t>ВРАХОВАНО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4389120"/>
            <a:ext cx="4526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F1F5F9"/>
                </a:solidFill>
                <a:latin typeface="Calibri"/>
              </a:rPr>
              <a:t>Чесне порівняння: лише минуле, тест на нових сценах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502920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0B0F19"/>
                </a:solidFill>
                <a:latin typeface="Calibri"/>
              </a:rPr>
              <a:t>ЧАСТКОВО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4937760"/>
            <a:ext cx="4526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F1F5F9"/>
                </a:solidFill>
                <a:latin typeface="Calibri"/>
              </a:rPr>
              <a:t>BEV-модель навчена, на val поки ≈ CV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557784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0B0F19"/>
                </a:solidFill>
                <a:latin typeface="Calibri"/>
              </a:rPr>
              <a:t>НЕ ПОЧАТО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5486400"/>
            <a:ext cx="4526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F1F5F9"/>
                </a:solidFill>
                <a:latin typeface="Calibri"/>
              </a:rPr>
              <a:t>Latent BEV, стрес-тести, демо — наступний етап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23760" y="2011680"/>
            <a:ext cx="4416552" cy="1280160"/>
          </a:xfrm>
          <a:prstGeom prst="roundRect">
            <a:avLst>
              <a:gd name="adj" fmla="val 6000"/>
            </a:avLst>
          </a:prstGeom>
          <a:solidFill>
            <a:srgbClr val="151C2E"/>
          </a:solidFill>
          <a:ln w="12700">
            <a:solidFill>
              <a:srgbClr val="232F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52360" y="2148840"/>
            <a:ext cx="40233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8BDF8"/>
                </a:solidFill>
                <a:latin typeface="Calibri"/>
              </a:rPr>
              <a:t>Олег Гомбош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1F5F9"/>
                </a:solidFill>
                <a:latin typeface="Calibri"/>
              </a:rPr>
              <a:t>Репозиторій і CI, конфіг-схема, метрики L2 / collision / Chamfer / FID з тестами, persistence-бейзлайн, візуалізації (камера, BEV, GIF)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23760" y="3429000"/>
            <a:ext cx="4416552" cy="1280160"/>
          </a:xfrm>
          <a:prstGeom prst="roundRect">
            <a:avLst>
              <a:gd name="adj" fmla="val 6000"/>
            </a:avLst>
          </a:prstGeom>
          <a:solidFill>
            <a:srgbClr val="151C2E"/>
          </a:solidFill>
          <a:ln w="12700">
            <a:solidFill>
              <a:srgbClr val="232F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52360" y="3566160"/>
            <a:ext cx="40233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8BDF8"/>
                </a:solidFill>
                <a:latin typeface="Calibri"/>
              </a:rPr>
              <a:t>Владислав Васильченко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1F5F9"/>
                </a:solidFill>
                <a:latin typeface="Calibri"/>
              </a:rPr>
              <a:t>nuScenes-лоадер, BEVFusion-енкодер і EgoPlanner, слайди презентації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23760" y="4846320"/>
            <a:ext cx="4416552" cy="1280160"/>
          </a:xfrm>
          <a:prstGeom prst="roundRect">
            <a:avLst>
              <a:gd name="adj" fmla="val 6000"/>
            </a:avLst>
          </a:prstGeom>
          <a:solidFill>
            <a:srgbClr val="151C2E"/>
          </a:solidFill>
          <a:ln w="12700">
            <a:solidFill>
              <a:srgbClr val="232F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52360" y="4983480"/>
            <a:ext cx="40233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8BDF8"/>
                </a:solidFill>
                <a:latin typeface="Calibri"/>
              </a:rPr>
              <a:t>Юрій Бобас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1F5F9"/>
                </a:solidFill>
                <a:latin typeface="Calibri"/>
              </a:rPr>
              <a:t>Object-centric представлення, ADE/FDE, огляд і виправлення методології BEV-енкодера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65760"/>
            <a:ext cx="1499616" cy="274320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0B0F19"/>
                </a:solidFill>
                <a:latin typeface="Calibri"/>
              </a:rPr>
              <a:t>ПОДАЛЬШИЙ ПЛАН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F1F5F9"/>
                </a:solidFill>
                <a:latin typeface="Calibri"/>
              </a:rPr>
              <a:t>План до фіналу: експерименти, план Б і що далі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94A3B8"/>
                </a:solidFill>
                <a:latin typeface="Calibri"/>
              </a:rPr>
              <a:t>Для всіх трьох представлень — ті самі спліти, горизонти й бейзлайни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94A3B8"/>
                </a:solidFill>
                <a:latin typeface="Calibri"/>
              </a:rPr>
              <a:t>SkyNet · Бобас, Васильченко, Гомбош · AI course, УКУ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1512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94A3B8"/>
                </a:solidFill>
                <a:latin typeface="Calibri"/>
              </a:rPr>
              <a:t>7 / 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11680"/>
            <a:ext cx="2601468" cy="2194560"/>
          </a:xfrm>
          <a:prstGeom prst="roundRect">
            <a:avLst>
              <a:gd name="adj" fmla="val 6000"/>
            </a:avLst>
          </a:prstGeom>
          <a:solidFill>
            <a:srgbClr val="151C2E"/>
          </a:solidFill>
          <a:ln w="12700">
            <a:solidFill>
              <a:srgbClr val="232F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2176272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0B0F19"/>
                </a:solidFill>
                <a:latin typeface="Calibri"/>
              </a:rPr>
              <a:t>Листопад 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06040"/>
            <a:ext cx="2235708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1F5F9"/>
                </a:solidFill>
                <a:latin typeface="Calibri"/>
              </a:rPr>
              <a:t>BEV без перенавчання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1F5F9"/>
                </a:solidFill>
                <a:latin typeface="Calibri"/>
              </a:rPr>
              <a:t>early stopping, LiDAR-растр (щільність, висота), pretrained ResNet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78708" y="2011680"/>
            <a:ext cx="2601468" cy="2194560"/>
          </a:xfrm>
          <a:prstGeom prst="roundRect">
            <a:avLst>
              <a:gd name="adj" fmla="val 6000"/>
            </a:avLst>
          </a:prstGeom>
          <a:solidFill>
            <a:srgbClr val="151C2E"/>
          </a:solidFill>
          <a:ln w="12700">
            <a:solidFill>
              <a:srgbClr val="232F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61588" y="2176272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0B0F19"/>
                </a:solidFill>
                <a:latin typeface="Calibri"/>
              </a:rPr>
              <a:t>Листопад II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1588" y="2606040"/>
            <a:ext cx="2235708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1F5F9"/>
                </a:solidFill>
                <a:latin typeface="Calibri"/>
              </a:rPr>
              <a:t>Object-centric модель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1F5F9"/>
                </a:solidFill>
                <a:latin typeface="Calibri"/>
              </a:rPr>
              <a:t>нейромережа прогнозує рух кожного агента за його минулими положеннями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8776" y="2011680"/>
            <a:ext cx="2601468" cy="2194560"/>
          </a:xfrm>
          <a:prstGeom prst="roundRect">
            <a:avLst>
              <a:gd name="adj" fmla="val 6000"/>
            </a:avLst>
          </a:prstGeom>
          <a:solidFill>
            <a:srgbClr val="151C2E"/>
          </a:solidFill>
          <a:ln w="12700">
            <a:solidFill>
              <a:srgbClr val="232F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91656" y="2176272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0B0F19"/>
                </a:solidFill>
                <a:latin typeface="Calibri"/>
              </a:rPr>
              <a:t>Грудень 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1656" y="2606040"/>
            <a:ext cx="2235708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1F5F9"/>
                </a:solidFill>
                <a:latin typeface="Calibri"/>
              </a:rPr>
              <a:t>Latent BEV + масштаб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1F5F9"/>
                </a:solidFill>
                <a:latin typeface="Calibri"/>
              </a:rPr>
              <a:t>автоенкодер + прогноз у латентному просторі; прогнози всіх трьох підходів зводимо до однієї карти зверху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38844" y="2011680"/>
            <a:ext cx="2601468" cy="2194560"/>
          </a:xfrm>
          <a:prstGeom prst="roundRect">
            <a:avLst>
              <a:gd name="adj" fmla="val 6000"/>
            </a:avLst>
          </a:prstGeom>
          <a:solidFill>
            <a:srgbClr val="151C2E"/>
          </a:solidFill>
          <a:ln w="12700">
            <a:solidFill>
              <a:srgbClr val="232F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221724" y="2176272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0B0F19"/>
                </a:solidFill>
                <a:latin typeface="Calibri"/>
              </a:rPr>
              <a:t>Грудень II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21724" y="2606040"/>
            <a:ext cx="2235708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1F5F9"/>
                </a:solidFill>
                <a:latin typeface="Calibri"/>
              </a:rPr>
              <a:t>Стрес-тести і демо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1F5F9"/>
                </a:solidFill>
                <a:latin typeface="Calibri"/>
              </a:rPr>
              <a:t>зсув его на 0.5 м, чутливість до дії водія, демо, звіт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3434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151C2E"/>
          </a:solidFill>
          <a:ln w="12700">
            <a:solidFill>
              <a:srgbClr val="232F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453128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38BDF8"/>
                </a:solidFill>
                <a:latin typeface="Calibri"/>
              </a:rPr>
              <a:t>Дизайн експериментів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846320"/>
            <a:ext cx="31546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01168" indent="-201168">
              <a:spcAft>
                <a:spcPts val="300"/>
              </a:spcAft>
              <a:buClr>
                <a:srgbClr val="38BDF8"/>
              </a:buClr>
              <a:buChar char="•"/>
            </a:pPr>
            <a:r>
              <a:rPr sz="1400" b="0" i="0">
                <a:solidFill>
                  <a:srgbClr val="F1F5F9"/>
                </a:solidFill>
                <a:latin typeface="Calibri"/>
              </a:rPr>
              <a:t>train: mini_train, тест: mini_val</a:t>
            </a:r>
          </a:p>
          <a:p>
            <a:pPr algn="l" marL="201168" indent="-201168">
              <a:spcAft>
                <a:spcPts val="300"/>
              </a:spcAft>
              <a:buClr>
                <a:srgbClr val="38BDF8"/>
              </a:buClr>
              <a:buChar char="•"/>
            </a:pPr>
            <a:r>
              <a:rPr sz="1400" b="0" i="0">
                <a:solidFill>
                  <a:srgbClr val="F1F5F9"/>
                </a:solidFill>
                <a:latin typeface="Calibri"/>
              </a:rPr>
              <a:t>early stopping на окремій train-сцені</a:t>
            </a:r>
          </a:p>
          <a:p>
            <a:pPr algn="l" marL="201168" indent="-201168">
              <a:spcAft>
                <a:spcPts val="300"/>
              </a:spcAft>
              <a:buClr>
                <a:srgbClr val="38BDF8"/>
              </a:buClr>
              <a:buChar char="•"/>
            </a:pPr>
            <a:r>
              <a:rPr sz="1400" b="0" i="0">
                <a:solidFill>
                  <a:srgbClr val="F1F5F9"/>
                </a:solidFill>
                <a:latin typeface="Calibri"/>
              </a:rPr>
              <a:t>3 запуски з різним seed (середнє ± розкид), порівняння з constant velocity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4343400"/>
            <a:ext cx="4142232" cy="1828800"/>
          </a:xfrm>
          <a:prstGeom prst="roundRect">
            <a:avLst>
              <a:gd name="adj" fmla="val 6000"/>
            </a:avLst>
          </a:prstGeom>
          <a:solidFill>
            <a:srgbClr val="151C2E"/>
          </a:solidFill>
          <a:ln w="12700">
            <a:solidFill>
              <a:srgbClr val="232F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0560" y="4453128"/>
            <a:ext cx="37764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F59E0B"/>
                </a:solidFill>
                <a:latin typeface="Calibri"/>
              </a:rPr>
              <a:t>План 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4846320"/>
            <a:ext cx="377647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01168" indent="-201168">
              <a:spcAft>
                <a:spcPts val="300"/>
              </a:spcAft>
              <a:buClr>
                <a:srgbClr val="38BDF8"/>
              </a:buClr>
              <a:buChar char="•"/>
            </a:pPr>
            <a:r>
              <a:rPr sz="1400" b="0" i="0">
                <a:solidFill>
                  <a:srgbClr val="F1F5F9"/>
                </a:solidFill>
                <a:latin typeface="Calibri"/>
              </a:rPr>
              <a:t>дифузійна модель (як у BEVWorld) завелика для GPU Colab → проста нейромережа, що прогнозує стиснену карту напряму</a:t>
            </a:r>
          </a:p>
          <a:p>
            <a:pPr algn="l" marL="201168" indent="-201168">
              <a:spcAft>
                <a:spcPts val="300"/>
              </a:spcAft>
              <a:buClr>
                <a:srgbClr val="38BDF8"/>
              </a:buClr>
              <a:buChar char="•"/>
            </a:pPr>
            <a:r>
              <a:rPr sz="1400" b="0" i="0">
                <a:solidFill>
                  <a:srgbClr val="F1F5F9"/>
                </a:solidFill>
                <a:latin typeface="Calibri"/>
              </a:rPr>
              <a:t>енкодер не вчиться → BEV-карта з анотацій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68512" y="4343400"/>
            <a:ext cx="2971800" cy="1828800"/>
          </a:xfrm>
          <a:prstGeom prst="roundRect">
            <a:avLst>
              <a:gd name="adj" fmla="val 6000"/>
            </a:avLst>
          </a:prstGeom>
          <a:solidFill>
            <a:srgbClr val="151C2E"/>
          </a:solidFill>
          <a:ln w="12700">
            <a:solidFill>
              <a:srgbClr val="232F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51392" y="4453128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0B981"/>
                </a:solidFill>
                <a:latin typeface="Calibri"/>
              </a:rPr>
              <a:t>Якщо все вийде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51392" y="4846320"/>
            <a:ext cx="2606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01168" indent="-201168">
              <a:spcAft>
                <a:spcPts val="300"/>
              </a:spcAft>
              <a:buClr>
                <a:srgbClr val="38BDF8"/>
              </a:buClr>
              <a:buChar char="•"/>
            </a:pPr>
            <a:r>
              <a:rPr sz="1400" b="0" i="0">
                <a:solidFill>
                  <a:srgbClr val="F1F5F9"/>
                </a:solidFill>
                <a:latin typeface="Calibri"/>
              </a:rPr>
              <a:t>повний trainval</a:t>
            </a:r>
          </a:p>
          <a:p>
            <a:pPr algn="l" marL="201168" indent="-201168">
              <a:spcAft>
                <a:spcPts val="300"/>
              </a:spcAft>
              <a:buClr>
                <a:srgbClr val="38BDF8"/>
              </a:buClr>
              <a:buChar char="•"/>
            </a:pPr>
            <a:r>
              <a:rPr sz="1400" b="0" i="0">
                <a:solidFill>
                  <a:srgbClr val="F1F5F9"/>
                </a:solidFill>
                <a:latin typeface="Calibri"/>
              </a:rPr>
              <a:t>демо: як прогноз змінюється від дії водія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