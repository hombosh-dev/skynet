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Доповідає: Юрій. 30 с. World model прогнозує, як зміниться дорожня сцена в наступні секунди. Ми порівнюємо три способи описати сцену: як список об'єктів, як карту зверху (BEV) і як стиснену карту (latent BEV), і перевіряємо, з яким прогноз на 1–3 секунди найточніший. Перше представлення готове, друге зібране й навчене, третє — наступний етап.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Доповідає: Владислав. 45 с. Беремо nuScenes mini: 8 сцен для навчання, 2 для тесту. Модель бачить 3 минулі кадри і прогнозує 6 наступних, тобто 3 секунди. Object-centric описує кожного учасника руху кількома числами — це найкомпактніше і найзрозуміліше. BEV — карта зверху, на яку зводимо 6 камер і лідар; ми взяли архітектуру BEVFusion, бо це поширений підхід і він вміщається в GPU Colab. Latent BEV — та сама карта, стиснена автоенкодером у латентний простір, де прогнозувати дешевше.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Доповідає: Олег. 40 с. Для траєкторії нашого авто міряємо L2 — відхилення в метрах через 1, 2 і 3 секунди — і collision rate, частку зіткнень з іншими агентами. Для агентів — ADE і FDE, середню та кінцеву похибку прогнозу, і miss rate — частку промахів понад 2 метри. Усе реалізовано в коді з тестами. Бейзлайни: zero-motion (сцена не змінюється) і constant velocity (рух з останньою виміряною швидкістю). Ми стежили, щоб бейзлайни бачили лише минуле, а тест був на сценах, яких модель не бачила.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Доповідає: Владислав. 45 с. На навчальних сценах модель помиляється в середньому лише на ~0.1 м — у кілька разів менше, ніж constant velocity (≈1 м на тих самих сценах). Але на двох нових сценах її похибка 2.81 м, а в constant velocity 2.45 м. Тобто модель запам'ятала навчальні приклади, а не навчилася узагальнювати — це перенавчання. Причини: лише 267 навчальних прикладів, а енкодер камер і лідара ще не навчений. На анімації: жовте — як їхав водій, зелене — прогноз моделі; видно, що модель не завжди помічає, що водій гальмує.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Доповідає: Юрій. 45 с. Кожну сцену перетворюємо на тензор: кадри × агенти × 11 ознак; усі анотації потрапляють у тензор. Constant velocity у 4 рази точніша за persistence за FDE на 3 с — саме її має обійти наша навчена модель. На картинці пунктир — прогноз constant velocity, жовте — реальний рух: вони розходяться на поворотах і при гальмуванні.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Доповідає: Олег. 45 с. З пропоузалу готові: підготовка даних, спільні метрики, бейзлайни і object-centric представлення. BEV-модель зібрана й навчена, але на нових сценах ще не краща за constant velocity. Latent BEV, стрес-тести і демо ще не почали: спершу хотіли, щоб порівняння було чесним і однаковим для всіх. Справа — хто що зробив.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Доповідає: Юрій. 50 с. Спершу боремося з перенавчанням BEV: early stopping на окремій тренувальній сцені, LiDAR-растр і pretrained ResNet для камер. Потім навчена object-centric модель і спільна BEV-карта зайнятості, на якій порівнюємо всі представлення. Далі latent BEV — автоенкодер і прогноз у латентному просторі — та частина trainval. Наприкінці стрес-тести, демо і звіт. План Б: якщо дифузія не вміщається в GPU — простіший прогноз у латентному просторі; якщо енкодер не вчиться — будуємо BEV-карту прямо з анотацій і порівнюємо лише прогноз.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3209544" cy="2743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B0F19"/>
                </a:solidFill>
                <a:latin typeface="Calibri"/>
              </a:rPr>
              <a:t>AI COURSE · ПРОМІЖНИЙ ПРОГРЕС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1F5F9"/>
                </a:solidFill>
                <a:latin typeface="Calibri"/>
              </a:rPr>
              <a:t>Яке представлення сцени найкраще для world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Порівнюємо object-centric, BEV і latent BEV на nuScenes за однаковими правилами оцінки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SkyNet · Бобас, Васильченко, Гомбош · AI course, УКУ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1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120640" cy="365760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6634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38BDF8"/>
                </a:solidFill>
                <a:latin typeface="Calibri"/>
              </a:rPr>
              <a:t>Команда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Юрій Бобас · Владислав Васильченко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Олег Гомбош</a:t>
            </a:r>
          </a:p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38BDF8"/>
                </a:solidFill>
                <a:latin typeface="Calibri"/>
              </a:rPr>
              <a:t>Менторка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Марта Сумик</a:t>
            </a:r>
          </a:p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38BDF8"/>
                </a:solidFill>
                <a:latin typeface="Calibri"/>
              </a:rPr>
              <a:t>Репозиторій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github.com/Hombosh-dev/SkyNet</a:t>
            </a:r>
          </a:p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38BDF8"/>
                </a:solidFill>
                <a:latin typeface="Calibri"/>
              </a:rPr>
              <a:t>Дані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nuScenes mini: 10 сцен по 20 с, 6 камер + LiDAR</a:t>
            </a:r>
          </a:p>
        </p:txBody>
      </p:sp>
      <p:pic>
        <p:nvPicPr>
          <p:cNvPr id="9" name="Picture 8" descr="surround_camer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011680"/>
            <a:ext cx="5605272" cy="21019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4186809"/>
            <a:ext cx="5605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6 камер одного моменту з nuScenes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799457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890897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1F5F9"/>
                </a:solidFill>
                <a:latin typeface="Calibri"/>
              </a:rPr>
              <a:t>Object-centric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5274945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9"/>
                </a:solidFill>
                <a:latin typeface="Calibri"/>
              </a:rPr>
              <a:t>ГОТОВО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4799457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4890897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1F5F9"/>
                </a:solidFill>
                <a:latin typeface="Calibri"/>
              </a:rPr>
              <a:t>BEV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5274945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9"/>
                </a:solidFill>
                <a:latin typeface="Calibri"/>
              </a:rPr>
              <a:t>ДОНАВЧАННЯ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4799457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4890897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1F5F9"/>
                </a:solidFill>
                <a:latin typeface="Calibri"/>
              </a:rPr>
              <a:t>Latent BEV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12680" y="5274945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9"/>
                </a:solidFill>
                <a:latin typeface="Calibri"/>
              </a:rPr>
              <a:t>ПЛАНУЄТЬСЯ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10028" cy="2743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B0F19"/>
                </a:solidFill>
                <a:latin typeface="Calibri"/>
              </a:rPr>
              <a:t>ТЕХНІЧНА ЧАСТИНА ·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1F5F9"/>
                </a:solidFill>
                <a:latin typeface="Calibri"/>
              </a:rPr>
              <a:t>Pipeline і чому саме ці моделі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Усі представлення отримують ті самі кадри й оцінюються тими самими метриками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SkyNet · Бобас, Васильченко, Гомбош · AI course, УКУ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2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600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nuScenes 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6312"/>
            <a:ext cx="1600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8 сцен — навчання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2 сцени — тест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87168" y="2441448"/>
            <a:ext cx="411480" cy="292608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43784" y="196596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2103120"/>
            <a:ext cx="1600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3 минулі кадри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2496312"/>
            <a:ext cx="1600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камери, LiDAR,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анотації, рух авто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82312" y="2441448"/>
            <a:ext cx="411480" cy="292608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38927" y="196596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122A45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2103120"/>
            <a:ext cx="1600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Представлення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2496312"/>
            <a:ext cx="1600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object-centric · BEV ·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latent BEV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77455" y="2441448"/>
            <a:ext cx="411480" cy="292608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34071" y="196596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1" y="2103120"/>
            <a:ext cx="1600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Прогноз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1" y="2496312"/>
            <a:ext cx="1600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6 кадрів = 3 с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72600" y="2441448"/>
            <a:ext cx="411480" cy="292608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29215" y="196596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66376" y="2103120"/>
            <a:ext cx="1600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8BDF8"/>
                </a:solidFill>
                <a:latin typeface="Calibri"/>
              </a:rPr>
              <a:t>Оцінка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6376" y="2496312"/>
            <a:ext cx="1600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однакові метрики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і бейзлайни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520440"/>
            <a:ext cx="3514344" cy="23774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3703320"/>
            <a:ext cx="1499616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0B0F19"/>
                </a:solidFill>
                <a:latin typeface="Calibri"/>
              </a:rPr>
              <a:t>Object-centric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60520"/>
            <a:ext cx="314858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94A3B8"/>
                </a:solidFill>
                <a:latin typeface="Calibri"/>
              </a:rPr>
              <a:t>Що: </a:t>
            </a:r>
            <a:r>
              <a:rPr sz="1600" b="0" i="0">
                <a:solidFill>
                  <a:srgbClr val="F1F5F9"/>
                </a:solidFill>
                <a:latin typeface="Calibri"/>
              </a:rPr>
              <a:t>кожен агент — вектор: положення, розмір, курс, швидкість, клас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94A3B8"/>
                </a:solidFill>
                <a:latin typeface="Calibri"/>
              </a:rPr>
              <a:t>Чому: </a:t>
            </a:r>
            <a:r>
              <a:rPr sz="1600" b="0" i="0">
                <a:solidFill>
                  <a:srgbClr val="F1F5F9"/>
                </a:solidFill>
                <a:latin typeface="Calibri"/>
              </a:rPr>
              <a:t>найкомпактніший та інтерпретований опис сцени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7304" y="3520440"/>
            <a:ext cx="3514344" cy="23774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20184" y="3703320"/>
            <a:ext cx="157734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0B0F19"/>
                </a:solidFill>
                <a:latin typeface="Calibri"/>
              </a:rPr>
              <a:t>BEV (BEVFusion)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0184" y="4160520"/>
            <a:ext cx="314858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94A3B8"/>
                </a:solidFill>
                <a:latin typeface="Calibri"/>
              </a:rPr>
              <a:t>Що: </a:t>
            </a:r>
            <a:r>
              <a:rPr sz="1600" b="0" i="0">
                <a:solidFill>
                  <a:srgbClr val="F1F5F9"/>
                </a:solidFill>
                <a:latin typeface="Calibri"/>
              </a:rPr>
              <a:t>6 камер (Lift-Splat) + LiDAR (PointPillars) в одну карту зверху 100 × 100 м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94A3B8"/>
                </a:solidFill>
                <a:latin typeface="Calibri"/>
              </a:rPr>
              <a:t>Чому: </a:t>
            </a:r>
            <a:r>
              <a:rPr sz="1600" b="0" i="0">
                <a:solidFill>
                  <a:srgbClr val="F1F5F9"/>
                </a:solidFill>
                <a:latin typeface="Calibri"/>
              </a:rPr>
              <a:t>поширений підхід до злиття сенсорів; вміщається в GPU Colab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5968" y="3520440"/>
            <a:ext cx="3514344" cy="23774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08847" y="37033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0B0F19"/>
                </a:solidFill>
                <a:latin typeface="Calibri"/>
              </a:rPr>
              <a:t>Latent BEV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8847" y="4160520"/>
            <a:ext cx="314858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94A3B8"/>
                </a:solidFill>
                <a:latin typeface="Calibri"/>
              </a:rPr>
              <a:t>Що: </a:t>
            </a:r>
            <a:r>
              <a:rPr sz="1600" b="0" i="0">
                <a:solidFill>
                  <a:srgbClr val="F1F5F9"/>
                </a:solidFill>
                <a:latin typeface="Calibri"/>
              </a:rPr>
              <a:t>та сама карта, стиснена автоенкодером у латентний простір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94A3B8"/>
                </a:solidFill>
                <a:latin typeface="Calibri"/>
              </a:rPr>
              <a:t>Чому: </a:t>
            </a:r>
            <a:r>
              <a:rPr sz="1600" b="0" i="0">
                <a:solidFill>
                  <a:srgbClr val="F1F5F9"/>
                </a:solidFill>
                <a:latin typeface="Calibri"/>
              </a:rPr>
              <a:t>прогноз у латентному просторі дешевший, ніж генерувати повну карту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3364992" cy="2743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B0F19"/>
                </a:solidFill>
                <a:latin typeface="Calibri"/>
              </a:rPr>
              <a:t>ТЕХНІЧНА ЧАСТИНА · МЕТРИКИ Й БЕЙЗЛАЙНИ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1F5F9"/>
                </a:solidFill>
                <a:latin typeface="Calibri"/>
              </a:rPr>
              <a:t>Як ми міряємо: метрики та бейзлайни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Модель має сенс, лише якщо вона точніша за прості бейзлайни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SkyNet · Бобас, Васильченко, Гомбош · AI course, УКУ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3 /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694944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3383280"/>
                <a:gridCol w="16459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94A3B8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232F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94A3B8"/>
                          </a:solidFill>
                          <a:latin typeface="Calibri"/>
                        </a:rPr>
                        <a:t>Що вимірює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23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94A3B8"/>
                          </a:solidFill>
                          <a:latin typeface="Calibri"/>
                        </a:rPr>
                        <a:t>Для чого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232F4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L2 @ 1/2/3 с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відхилення траєкторії авто, м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BEV, усі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Collision rate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перетин авто з іншими агентами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усі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ADE / FDE / Miss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похибка прогнозу агентів, м; промахи &gt;2 м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object-centric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Chamfer distance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збіг хмар точок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BEV, latent BEV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63840" y="2011680"/>
            <a:ext cx="3776472" cy="28346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8BDF8"/>
                </a:solidFill>
                <a:latin typeface="Calibri"/>
              </a:rPr>
              <a:t>Бейзлайни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697480"/>
            <a:ext cx="3383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200"/>
              </a:spcAft>
              <a:buClr>
                <a:srgbClr val="38BDF8"/>
              </a:buClr>
              <a:buChar char="•"/>
            </a:pPr>
            <a:r>
              <a:rPr sz="1600" b="1" i="0">
                <a:solidFill>
                  <a:srgbClr val="F1F5F9"/>
                </a:solidFill>
                <a:latin typeface="Calibri"/>
              </a:rPr>
              <a:t>Zero-motion / Persistence: </a:t>
            </a:r>
            <a:r>
              <a:rPr sz="1600" b="0" i="0">
                <a:solidFill>
                  <a:srgbClr val="F1F5F9"/>
                </a:solidFill>
                <a:latin typeface="Calibri"/>
              </a:rPr>
              <a:t>сцена не змінюється</a:t>
            </a:r>
          </a:p>
          <a:p>
            <a:pPr algn="l" marL="201168" indent="-201168">
              <a:spcAft>
                <a:spcPts val="1200"/>
              </a:spcAft>
              <a:buClr>
                <a:srgbClr val="38BDF8"/>
              </a:buClr>
              <a:buChar char="•"/>
            </a:pPr>
            <a:r>
              <a:rPr sz="1600" b="1" i="0">
                <a:solidFill>
                  <a:srgbClr val="F1F5F9"/>
                </a:solidFill>
                <a:latin typeface="Calibri"/>
              </a:rPr>
              <a:t>Constant velocity (CV): </a:t>
            </a:r>
            <a:r>
              <a:rPr sz="1600" b="0" i="0">
                <a:solidFill>
                  <a:srgbClr val="F1F5F9"/>
                </a:solidFill>
                <a:latin typeface="Calibri"/>
              </a:rPr>
              <a:t>остання виміряна швидкість</a:t>
            </a:r>
          </a:p>
          <a:p>
            <a:pPr algn="l" marL="201168" indent="-201168">
              <a:spcAft>
                <a:spcPts val="1200"/>
              </a:spcAft>
              <a:buClr>
                <a:srgbClr val="38BDF8"/>
              </a:buClr>
              <a:buChar char="•"/>
            </a:pPr>
            <a:r>
              <a:rPr sz="1600" b="1" i="0">
                <a:solidFill>
                  <a:srgbClr val="F1F5F9"/>
                </a:solidFill>
                <a:latin typeface="Calibri"/>
              </a:rPr>
              <a:t>Ego-status MLP (план): </a:t>
            </a:r>
            <a:r>
              <a:rPr sz="1600" b="0" i="0">
                <a:solidFill>
                  <a:srgbClr val="F1F5F9"/>
                </a:solidFill>
                <a:latin typeface="Calibri"/>
              </a:rPr>
              <a:t>чи не вирішує все сама швидкість его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000"/>
            </a:avLst>
          </a:prstGeom>
          <a:solidFill>
            <a:srgbClr val="0F2A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19379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0B981"/>
                </a:solidFill>
                <a:latin typeface="Calibri"/>
              </a:rPr>
              <a:t>Що ми врахували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778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бейзлайни бачать лише минуле  ·  тест — на 2 сценах, яких модель не бачила  ·  однакові кадри й метрики для всіх представлень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55064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B0F19"/>
                </a:solidFill>
                <a:latin typeface="Calibri"/>
              </a:rPr>
              <a:t>РЕЗУЛЬТАТИ · BEV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1F5F9"/>
                </a:solidFill>
                <a:latin typeface="Calibri"/>
              </a:rPr>
              <a:t>BEV: на навчальних сценах точна, на нових — поки ні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L2 у метрах на mini_val: 67 кадрів 2 сцен, яких модель не бачила (менше — краще)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SkyNet · Бобас, Васильченко, Гомбош · AI course, УКУ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4 /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5120640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731520"/>
                <a:gridCol w="731520"/>
                <a:gridCol w="73152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94A3B8"/>
                          </a:solidFill>
                          <a:latin typeface="Calibri"/>
                        </a:rPr>
                        <a:t>Метод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23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94A3B8"/>
                          </a:solidFill>
                          <a:latin typeface="Calibri"/>
                        </a:rPr>
                        <a:t>1 с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23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94A3B8"/>
                          </a:solidFill>
                          <a:latin typeface="Calibri"/>
                        </a:rPr>
                        <a:t>2 с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23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94A3B8"/>
                          </a:solidFill>
                          <a:latin typeface="Calibri"/>
                        </a:rPr>
                        <a:t>3 с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23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94A3B8"/>
                          </a:solidFill>
                          <a:latin typeface="Calibri"/>
                        </a:rPr>
                        <a:t>Сер.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232F4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Zero-motion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5.23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10.43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15.55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10.40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1F5F9"/>
                          </a:solidFill>
                          <a:latin typeface="Calibri"/>
                        </a:rPr>
                        <a:t>Constant velocity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0F3A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1F5F9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0F3A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1F5F9"/>
                          </a:solidFill>
                          <a:latin typeface="Calibri"/>
                        </a:rPr>
                        <a:t>2.20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0F3A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1F5F9"/>
                          </a:solidFill>
                          <a:latin typeface="Calibri"/>
                        </a:rPr>
                        <a:t>4.46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0F3A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1F5F9"/>
                          </a:solidFill>
                          <a:latin typeface="Calibri"/>
                        </a:rPr>
                        <a:t>2.45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0F3A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BEVFusion + EgoPlanner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2.56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5.06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F1F5F9"/>
                          </a:solidFill>
                          <a:latin typeface="Calibri"/>
                        </a:rPr>
                        <a:t>2.81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20624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59E0B"/>
                </a:solidFill>
                <a:latin typeface="Calibri"/>
              </a:rPr>
              <a:t>Що ми бачимо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54880"/>
            <a:ext cx="46634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500"/>
              </a:spcAft>
              <a:buClr>
                <a:srgbClr val="38BDF8"/>
              </a:buClr>
              <a:buChar char="•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Train: ~0.1 м — у кілька разів точніше за CV</a:t>
            </a:r>
          </a:p>
          <a:p>
            <a:pPr algn="l" marL="201168" indent="-201168">
              <a:spcAft>
                <a:spcPts val="500"/>
              </a:spcAft>
              <a:buClr>
                <a:srgbClr val="38BDF8"/>
              </a:buClr>
              <a:buChar char="•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Val: 2.81 м проти 2.45 м у CV</a:t>
            </a:r>
          </a:p>
          <a:p>
            <a:pPr algn="l" marL="201168" indent="-201168">
              <a:spcAft>
                <a:spcPts val="500"/>
              </a:spcAft>
              <a:buClr>
                <a:srgbClr val="38BDF8"/>
              </a:buClr>
              <a:buChar char="•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Перенавчання: мало даних, енкодер ще не навчений</a:t>
            </a:r>
          </a:p>
        </p:txBody>
      </p:sp>
      <p:pic>
        <p:nvPicPr>
          <p:cNvPr id="11" name="Picture 10" descr="progress_bev_driv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011680"/>
            <a:ext cx="5696712" cy="32064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0" y="5327890"/>
            <a:ext cx="56967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Тестова сцена: жовте — водій, зелене — прогноз (у PPTX — анімація)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10028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B0F19"/>
                </a:solidFill>
                <a:latin typeface="Calibri"/>
              </a:rPr>
              <a:t>РЕЗУЛЬТАТИ · OBJECT-CENTRIC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1F5F9"/>
                </a:solidFill>
                <a:latin typeface="Calibri"/>
              </a:rPr>
              <a:t>Object-centric: сцена без втрат, CV — сильний бейзлайн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Усі 10 сцен mini, 16 295 вікон агентів, похибка в метрах (менше — краще)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SkyNet · Бобас, Васильченко, Гомбош · AI course, УКУ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5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943600" cy="91440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94A3B8"/>
                </a:solidFill>
                <a:latin typeface="Calibri"/>
              </a:rPr>
              <a:t>Тензор сцени: </a:t>
            </a:r>
            <a:r>
              <a:rPr sz="1500" b="0" i="0">
                <a:solidFill>
                  <a:srgbClr val="F1F5F9"/>
                </a:solidFill>
                <a:latin typeface="Calibri"/>
              </a:rPr>
              <a:t>[кадри, агенти, 11 ознак], напр. [39, 227, 11]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94A3B8"/>
                </a:solidFill>
                <a:latin typeface="Calibri"/>
              </a:rPr>
              <a:t>Перевірка: </a:t>
            </a:r>
            <a:r>
              <a:rPr sz="1500" b="0" i="0">
                <a:solidFill>
                  <a:srgbClr val="F1F5F9"/>
                </a:solidFill>
                <a:latin typeface="Calibri"/>
              </a:rPr>
              <a:t>усі 18 538 анотацій потрапили в тензор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200400"/>
          <a:ext cx="594360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1005840"/>
                <a:gridCol w="1005840"/>
                <a:gridCol w="1005840"/>
                <a:gridCol w="10058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94A3B8"/>
                          </a:solidFill>
                          <a:latin typeface="Calibri"/>
                        </a:rPr>
                        <a:t>Бейзлайн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23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94A3B8"/>
                          </a:solidFill>
                          <a:latin typeface="Calibri"/>
                        </a:rPr>
                        <a:t>ADE 1 с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23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94A3B8"/>
                          </a:solidFill>
                          <a:latin typeface="Calibri"/>
                        </a:rPr>
                        <a:t>ADE 3 с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23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94A3B8"/>
                          </a:solidFill>
                          <a:latin typeface="Calibri"/>
                        </a:rPr>
                        <a:t>FDE 3 с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23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94A3B8"/>
                          </a:solidFill>
                          <a:latin typeface="Calibri"/>
                        </a:rPr>
                        <a:t>Miss 3 с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232F4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1F5F9"/>
                          </a:solidFill>
                          <a:latin typeface="Calibri"/>
                        </a:rPr>
                        <a:t>Persistence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F1F5F9"/>
                          </a:solidFill>
                          <a:latin typeface="Calibri"/>
                        </a:rPr>
                        <a:t>1.07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F1F5F9"/>
                          </a:solidFill>
                          <a:latin typeface="Calibri"/>
                        </a:rPr>
                        <a:t>2.33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F1F5F9"/>
                          </a:solidFill>
                          <a:latin typeface="Calibri"/>
                        </a:rPr>
                        <a:t>3.97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F1F5F9"/>
                          </a:solidFill>
                          <a:latin typeface="Calibri"/>
                        </a:rPr>
                        <a:t>33.2%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151C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1F5F9"/>
                          </a:solidFill>
                          <a:latin typeface="Calibri"/>
                        </a:rPr>
                        <a:t>Constant velocity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0F3A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1F5F9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0F3A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1F5F9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0F3A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1F5F9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0F3A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1F5F9"/>
                          </a:solidFill>
                          <a:latin typeface="Calibri"/>
                        </a:rPr>
                        <a:t>10.7%</a:t>
                      </a:r>
                    </a:p>
                  </a:txBody>
                  <a:tcPr marL="91440" marR="91440" marT="36576" marB="36576" anchor="ctr">
                    <a:lnL w="12700" cmpd="sng">
                      <a:solidFill>
                        <a:srgbClr val="232F48"/>
                      </a:solidFill>
                    </a:lnL>
                    <a:lnR w="12700" cmpd="sng">
                      <a:solidFill>
                        <a:srgbClr val="232F48"/>
                      </a:solidFill>
                    </a:lnR>
                    <a:lnT w="12700" cmpd="sng">
                      <a:solidFill>
                        <a:srgbClr val="232F48"/>
                      </a:solidFill>
                    </a:lnT>
                    <a:lnB w="12700" cmpd="sng">
                      <a:solidFill>
                        <a:srgbClr val="232F48"/>
                      </a:solidFill>
                    </a:lnB>
                    <a:solidFill>
                      <a:srgbClr val="0F3A3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07492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0B981"/>
                </a:solidFill>
                <a:latin typeface="Calibri"/>
              </a:rPr>
              <a:t>Висновок: </a:t>
            </a:r>
            <a:r>
              <a:rPr sz="1600" b="0" i="0">
                <a:solidFill>
                  <a:srgbClr val="F1F5F9"/>
                </a:solidFill>
                <a:latin typeface="Calibri"/>
              </a:rPr>
              <a:t>CV у 4× точніша за persistence; помиляється на поворотах і гальмуванні</a:t>
            </a:r>
          </a:p>
        </p:txBody>
      </p:sp>
      <p:pic>
        <p:nvPicPr>
          <p:cNvPr id="11" name="Picture 10" descr="progress_object_foreca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011680"/>
            <a:ext cx="4455929" cy="3886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03720" y="59436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Пунктир — прогноз constant velocity, жовте — реальний рух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955548" cy="2743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B0F19"/>
                </a:solidFill>
                <a:latin typeface="Calibri"/>
              </a:rPr>
              <a:t>ПРОГРЕС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1F5F9"/>
                </a:solidFill>
                <a:latin typeface="Calibri"/>
              </a:rPr>
              <a:t>Що виконано з пропоузалу і хто що робив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Два з трьох представлень уже дають результати; третє — наступний етап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SkyNet · Бобас, Васильченко, Гомбош · AI course, УКУ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6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6400800" cy="411480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9"/>
                </a:solidFill>
                <a:latin typeface="Calibri"/>
              </a:rPr>
              <a:t>ГОТОВО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4526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Дані nuScenes: keyframes, офіційні спліти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3464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9"/>
                </a:solidFill>
                <a:latin typeface="Calibri"/>
              </a:rPr>
              <a:t>ГОТОВО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743200"/>
            <a:ext cx="4526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Спільні метрики (L2, collision, Chamfer, FID, ADE/FDE) + тести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83279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9"/>
                </a:solidFill>
                <a:latin typeface="Calibri"/>
              </a:rPr>
              <a:t>ГОТОВО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291839"/>
            <a:ext cx="4526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Бейзлайни: zero-motion, persistence, constant velocity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931919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9"/>
                </a:solidFill>
                <a:latin typeface="Calibri"/>
              </a:rPr>
              <a:t>ГОТОВО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840479"/>
            <a:ext cx="4526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Object-centric представлення: без втрат, 10 сцен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80559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9"/>
                </a:solidFill>
                <a:latin typeface="Calibri"/>
              </a:rPr>
              <a:t>ВРАХОВАНО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389120"/>
            <a:ext cx="4526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Чесне порівняння: лише минуле, тест на нових сценах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292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9"/>
                </a:solidFill>
                <a:latin typeface="Calibri"/>
              </a:rPr>
              <a:t>ЧАСТКОВО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937760"/>
            <a:ext cx="4526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BEV-модель навчена, на val поки ≈ CV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57784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9"/>
                </a:solidFill>
                <a:latin typeface="Calibri"/>
              </a:rPr>
              <a:t>НЕ ПОЧАТО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486400"/>
            <a:ext cx="4526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Latent BEV, стрес-тести, демо — наступний етап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2011680"/>
            <a:ext cx="4416552" cy="128016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2148840"/>
            <a:ext cx="4023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8BDF8"/>
                </a:solidFill>
                <a:latin typeface="Calibri"/>
              </a:rPr>
              <a:t>Олег Гомбош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Репозиторій і CI, конфіг-схема, метрики L2 / collision / Chamfer / FID з тестами, persistence-бейзлайн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3429000"/>
            <a:ext cx="4416552" cy="128016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3566160"/>
            <a:ext cx="4023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8BDF8"/>
                </a:solidFill>
                <a:latin typeface="Calibri"/>
              </a:rPr>
              <a:t>Владислав Васильченко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nuScenes-лоадер, BEVFusion-енкодер і EgoPlanner, візуалізації (камера, BEV, GIF), слайди мідтерму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4846320"/>
            <a:ext cx="4416552" cy="128016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4983480"/>
            <a:ext cx="4023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8BDF8"/>
                </a:solidFill>
                <a:latin typeface="Calibri"/>
              </a:rPr>
              <a:t>Юрій Бобас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Object-centric представлення, ADE/FDE, ноутбук; аудит і виправлення методології BEV, навчання планера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499616" cy="27432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B0F19"/>
                </a:solidFill>
                <a:latin typeface="Calibri"/>
              </a:rPr>
              <a:t>ПОДАЛЬШИЙ ПЛАН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1F5F9"/>
                </a:solidFill>
                <a:latin typeface="Calibri"/>
              </a:rPr>
              <a:t>План до фіналу: експерименти, план Б і що далі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Для всіх трьох представлень — ті самі спліти, горизонти й бейзлайни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SkyNet · Бобас, Васильченко, Гомбош · AI course, УКУ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7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601468" cy="201168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7627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9"/>
                </a:solidFill>
                <a:latin typeface="Calibri"/>
              </a:rPr>
              <a:t>Листопад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23570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1F5F9"/>
                </a:solidFill>
                <a:latin typeface="Calibri"/>
              </a:rPr>
              <a:t>BEV без перенавчання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early stopping, LiDAR-растр (щільність, висота), pretrained ResNet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8708" y="2011680"/>
            <a:ext cx="2601468" cy="201168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1588" y="217627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9"/>
                </a:solidFill>
                <a:latin typeface="Calibri"/>
              </a:rPr>
              <a:t>Листопад 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1588" y="2606040"/>
            <a:ext cx="223570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1F5F9"/>
                </a:solidFill>
                <a:latin typeface="Calibri"/>
              </a:rPr>
              <a:t>Object-centric модель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нейромережа по треках агентів; спільна BEV-карта зайнятості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011680"/>
            <a:ext cx="2601468" cy="201168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91656" y="217627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9"/>
                </a:solidFill>
                <a:latin typeface="Calibri"/>
              </a:rPr>
              <a:t>Грудень 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606040"/>
            <a:ext cx="223570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1F5F9"/>
                </a:solidFill>
                <a:latin typeface="Calibri"/>
              </a:rPr>
              <a:t>Latent BEV + масштаб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автоенкодер + прогноз у латентному просторі; до 150 сцен trainval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8844" y="2011680"/>
            <a:ext cx="2601468" cy="201168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21724" y="217627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9"/>
                </a:solidFill>
                <a:latin typeface="Calibri"/>
              </a:rPr>
              <a:t>Грудень 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1724" y="2606040"/>
            <a:ext cx="223570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1F5F9"/>
                </a:solidFill>
                <a:latin typeface="Calibri"/>
              </a:rPr>
              <a:t>Стрес-тести і демо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зсув его на 0.5 м, чутливість до дії водія, демо, звіт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3544824" cy="19202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3179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8BDF8"/>
                </a:solidFill>
                <a:latin typeface="Calibri"/>
              </a:rPr>
              <a:t>Дизайн експериментів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317906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400"/>
              </a:spcAft>
              <a:buClr>
                <a:srgbClr val="38BDF8"/>
              </a:buClr>
              <a:buChar char="•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train: mini_train, тест: mini_val</a:t>
            </a:r>
          </a:p>
          <a:p>
            <a:pPr algn="l" marL="201168" indent="-201168">
              <a:spcAft>
                <a:spcPts val="400"/>
              </a:spcAft>
              <a:buClr>
                <a:srgbClr val="38BDF8"/>
              </a:buClr>
              <a:buChar char="•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early stopping на окремій train-сцені</a:t>
            </a:r>
          </a:p>
          <a:p>
            <a:pPr algn="l" marL="201168" indent="-201168">
              <a:spcAft>
                <a:spcPts val="400"/>
              </a:spcAft>
              <a:buClr>
                <a:srgbClr val="38BDF8"/>
              </a:buClr>
              <a:buChar char="•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3 seeds, порівняння з CV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2064" y="4206240"/>
            <a:ext cx="3544824" cy="19202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4944" y="4343400"/>
            <a:ext cx="3179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59E0B"/>
                </a:solidFill>
                <a:latin typeface="Calibri"/>
              </a:rPr>
              <a:t>План 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4944" y="4754880"/>
            <a:ext cx="317906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400"/>
              </a:spcAft>
              <a:buClr>
                <a:srgbClr val="38BDF8"/>
              </a:buClr>
              <a:buChar char="•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дифузія не вміщається в GPU → простіший прогноз у латентному просторі</a:t>
            </a:r>
          </a:p>
          <a:p>
            <a:pPr algn="l" marL="201168" indent="-201168">
              <a:spcAft>
                <a:spcPts val="400"/>
              </a:spcAft>
              <a:buClr>
                <a:srgbClr val="38BDF8"/>
              </a:buClr>
              <a:buChar char="•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енкодер не вчиться → BEV-карта з анотацій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5488" y="4206240"/>
            <a:ext cx="3544824" cy="19202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2700">
            <a:solidFill>
              <a:srgbClr val="23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8367" y="4343400"/>
            <a:ext cx="3179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0B981"/>
                </a:solidFill>
                <a:latin typeface="Calibri"/>
              </a:rPr>
              <a:t>Якщо все вийде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8367" y="4754880"/>
            <a:ext cx="317906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400"/>
              </a:spcAft>
              <a:buClr>
                <a:srgbClr val="38BDF8"/>
              </a:buClr>
              <a:buChar char="•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повний trainval</a:t>
            </a:r>
          </a:p>
          <a:p>
            <a:pPr algn="l" marL="201168" indent="-201168">
              <a:spcAft>
                <a:spcPts val="400"/>
              </a:spcAft>
              <a:buClr>
                <a:srgbClr val="38BDF8"/>
              </a:buClr>
              <a:buChar char="•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демо: як прогноз змінюється від дії водія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